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29"/>
  </p:notesMasterIdLst>
  <p:sldIdLst>
    <p:sldId id="256" r:id="rId2"/>
    <p:sldId id="306" r:id="rId3"/>
    <p:sldId id="316" r:id="rId4"/>
    <p:sldId id="290" r:id="rId5"/>
    <p:sldId id="309" r:id="rId6"/>
    <p:sldId id="356" r:id="rId7"/>
    <p:sldId id="358" r:id="rId8"/>
    <p:sldId id="359" r:id="rId9"/>
    <p:sldId id="361" r:id="rId10"/>
    <p:sldId id="363" r:id="rId11"/>
    <p:sldId id="365" r:id="rId12"/>
    <p:sldId id="285" r:id="rId13"/>
    <p:sldId id="326" r:id="rId14"/>
    <p:sldId id="338" r:id="rId15"/>
    <p:sldId id="339" r:id="rId16"/>
    <p:sldId id="342" r:id="rId17"/>
    <p:sldId id="343" r:id="rId18"/>
    <p:sldId id="346" r:id="rId19"/>
    <p:sldId id="348" r:id="rId20"/>
    <p:sldId id="349" r:id="rId21"/>
    <p:sldId id="350" r:id="rId22"/>
    <p:sldId id="351" r:id="rId23"/>
    <p:sldId id="352" r:id="rId24"/>
    <p:sldId id="353" r:id="rId25"/>
    <p:sldId id="354" r:id="rId26"/>
    <p:sldId id="355" r:id="rId27"/>
    <p:sldId id="283" r:id="rId28"/>
  </p:sldIdLst>
  <p:sldSz cx="9144000" cy="5143500" type="screen16x9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BCAB5CB-F2BF-42F4-AB10-25D7BBCC4597}">
  <a:tblStyle styleId="{CBCAB5CB-F2BF-42F4-AB10-25D7BBCC459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8" autoAdjust="0"/>
    <p:restoredTop sz="94624" autoAdjust="0"/>
  </p:normalViewPr>
  <p:slideViewPr>
    <p:cSldViewPr snapToGrid="0">
      <p:cViewPr varScale="1">
        <p:scale>
          <a:sx n="111" d="100"/>
          <a:sy n="111" d="100"/>
        </p:scale>
        <p:origin x="638" y="6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168" y="324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b3153fd046_2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b3153fd046_2_11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b3153fd046_2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2b3153fd046_2_11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b3153fd046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b3153fd046_2_0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15" tIns="91415" rIns="91415" bIns="9141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15" tIns="91415" rIns="91415" bIns="9141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15" tIns="91415" rIns="91415" bIns="9141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15" tIns="91415" rIns="91415" bIns="9141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15" tIns="91415" rIns="91415" bIns="9141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15" tIns="91415" rIns="91415" bIns="91415" anchor="t" anchorCtr="0">
            <a:normAutofit/>
          </a:bodyPr>
          <a:lstStyle>
            <a:lvl1pPr marL="457148" lvl="0" indent="-342861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296" lvl="1" indent="-31746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444" lvl="2" indent="-317464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592" lvl="3" indent="-317464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5740" lvl="4" indent="-31746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2888" lvl="5" indent="-317464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036" lvl="6" indent="-317464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184" lvl="7" indent="-31746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332" lvl="8" indent="-317464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15" tIns="91415" rIns="91415" bIns="9141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15" tIns="91415" rIns="91415" bIns="9141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15" tIns="91415" rIns="91415" bIns="91415" anchor="t" anchorCtr="0">
            <a:normAutofit/>
          </a:bodyPr>
          <a:lstStyle>
            <a:lvl1pPr marL="457148" lvl="0" indent="-317464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296" lvl="1" indent="-304765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444" lvl="2" indent="-304765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592" lvl="3" indent="-304765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5740" lvl="4" indent="-304765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2888" lvl="5" indent="-304765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036" lvl="6" indent="-304765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184" lvl="7" indent="-304765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332" lvl="8" indent="-304765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15" tIns="91415" rIns="91415" bIns="91415" anchor="t" anchorCtr="0">
            <a:normAutofit/>
          </a:bodyPr>
          <a:lstStyle>
            <a:lvl1pPr marL="457148" lvl="0" indent="-317464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296" lvl="1" indent="-304765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444" lvl="2" indent="-304765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592" lvl="3" indent="-304765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5740" lvl="4" indent="-304765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2888" lvl="5" indent="-304765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036" lvl="6" indent="-304765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184" lvl="7" indent="-304765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332" lvl="8" indent="-304765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15" tIns="91415" rIns="91415" bIns="9141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15" tIns="91415" rIns="91415" bIns="9141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15" tIns="91415" rIns="91415" bIns="91415" anchor="t" anchorCtr="0">
            <a:normAutofit/>
          </a:bodyPr>
          <a:lstStyle>
            <a:lvl1pPr marL="457148" lvl="0" indent="-304765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296" lvl="1" indent="-304765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444" lvl="2" indent="-304765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592" lvl="3" indent="-304765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5740" lvl="4" indent="-304765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2888" lvl="5" indent="-304765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036" lvl="6" indent="-304765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184" lvl="7" indent="-304765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332" lvl="8" indent="-304765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15" tIns="91415" rIns="91415" bIns="9141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15" tIns="91415" rIns="91415" bIns="9141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15" tIns="91415" rIns="91415" bIns="9141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15" tIns="91415" rIns="91415" bIns="9141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6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15" tIns="91415" rIns="91415" bIns="9141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15" tIns="91415" rIns="91415" bIns="9141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15" tIns="91415" rIns="91415" bIns="91415" anchor="ctr" anchorCtr="0">
            <a:normAutofit/>
          </a:bodyPr>
          <a:lstStyle>
            <a:lvl1pPr marL="457148" lvl="0" indent="-34286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296" lvl="1" indent="-31746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444" lvl="2" indent="-31746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592" lvl="3" indent="-31746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5740" lvl="4" indent="-31746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2888" lvl="5" indent="-31746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036" lvl="6" indent="-31746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184" lvl="7" indent="-31746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332" lvl="8" indent="-31746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15" tIns="91415" rIns="91415" bIns="91415" anchor="ctr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15" tIns="91415" rIns="91415" bIns="91415" anchor="ctr" anchorCtr="0">
            <a:normAutofit/>
          </a:bodyPr>
          <a:lstStyle>
            <a:lvl1pPr marL="457148" lvl="0" indent="-22857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15" tIns="91415" rIns="91415" bIns="9141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15" tIns="91415" rIns="91415" bIns="9141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15" tIns="91415" rIns="91415" bIns="9141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15" tIns="91415" rIns="91415" bIns="91415" anchor="t" anchorCtr="0">
            <a:normAutofit/>
          </a:bodyPr>
          <a:lstStyle>
            <a:lvl1pPr marL="457148" lvl="0" indent="-342861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296" lvl="1" indent="-31746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444" lvl="2" indent="-317464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592" lvl="3" indent="-317464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5740" lvl="4" indent="-31746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2888" lvl="5" indent="-317464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036" lvl="6" indent="-317464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184" lvl="7" indent="-31746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332" lvl="8" indent="-317464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15" tIns="91415" rIns="91415" bIns="9141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blipFill dpi="0" rotWithShape="1">
          <a:blip r:embed="rId11">
            <a:alphaModFix amt="21000"/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91415" rIns="91415" bIns="9141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91415" rIns="91415" bIns="9141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91415" rIns="91415" bIns="9141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60" r:id="rId9"/>
  </p:sldLayoutIdLst>
  <p:transition spd="med"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/>
        </p:nvSpPr>
        <p:spPr>
          <a:xfrm>
            <a:off x="1006200" y="2027150"/>
            <a:ext cx="7131600" cy="6570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15" tIns="91415" rIns="91415" bIns="91415" anchor="ctr" anchorCtr="0">
            <a:noAutofit/>
          </a:bodyPr>
          <a:lstStyle/>
          <a:p>
            <a:pPr algn="ctr"/>
            <a:r>
              <a:rPr lang="en-GB" sz="3000" b="1" dirty="0">
                <a:solidFill>
                  <a:srgbClr val="073763"/>
                </a:solidFill>
                <a:latin typeface="Roboto Slab"/>
                <a:ea typeface="Roboto Slab"/>
                <a:cs typeface="Roboto Slab"/>
                <a:sym typeface="Roboto Slab"/>
              </a:rPr>
              <a:t>GOVERNMENT OF TELANGANA</a:t>
            </a:r>
            <a:endParaRPr sz="3000" b="1" dirty="0">
              <a:solidFill>
                <a:srgbClr val="073763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67" name="Google Shape;67;p13"/>
          <p:cNvSpPr txBox="1"/>
          <p:nvPr/>
        </p:nvSpPr>
        <p:spPr>
          <a:xfrm>
            <a:off x="1680300" y="2931175"/>
            <a:ext cx="5783400" cy="48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15" tIns="91415" rIns="91415" bIns="91415" anchor="ctr" anchorCtr="0">
            <a:noAutofit/>
          </a:bodyPr>
          <a:lstStyle/>
          <a:p>
            <a:pPr algn="ctr">
              <a:lnSpc>
                <a:spcPct val="80000"/>
              </a:lnSpc>
            </a:pPr>
            <a:endParaRPr lang="en-GB" sz="1600" b="1" dirty="0">
              <a:solidFill>
                <a:srgbClr val="073763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algn="ctr">
              <a:lnSpc>
                <a:spcPct val="80000"/>
              </a:lnSpc>
            </a:pPr>
            <a:endParaRPr lang="en-GB" sz="1600" b="1" dirty="0">
              <a:solidFill>
                <a:srgbClr val="073763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algn="ctr">
              <a:lnSpc>
                <a:spcPct val="80000"/>
              </a:lnSpc>
            </a:pPr>
            <a:r>
              <a:rPr lang="en-GB" sz="2000" b="1" dirty="0">
                <a:solidFill>
                  <a:srgbClr val="073763"/>
                </a:solidFill>
                <a:latin typeface="Roboto Slab"/>
                <a:ea typeface="Roboto Slab"/>
                <a:cs typeface="Roboto Slab"/>
                <a:sym typeface="Roboto Slab"/>
              </a:rPr>
              <a:t>MINORITIES WELFARE DEPARTMENT</a:t>
            </a:r>
          </a:p>
          <a:p>
            <a:pPr algn="ctr">
              <a:lnSpc>
                <a:spcPct val="80000"/>
              </a:lnSpc>
            </a:pPr>
            <a:endParaRPr lang="en-GB" sz="1600" b="1" dirty="0">
              <a:solidFill>
                <a:srgbClr val="073763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algn="ctr">
              <a:lnSpc>
                <a:spcPct val="80000"/>
              </a:lnSpc>
            </a:pPr>
            <a:endParaRPr lang="en-GB" sz="2000" b="1" dirty="0">
              <a:solidFill>
                <a:srgbClr val="073763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algn="ctr">
              <a:lnSpc>
                <a:spcPct val="80000"/>
              </a:lnSpc>
            </a:pPr>
            <a:r>
              <a:rPr lang="en-GB" sz="2000" b="1" dirty="0">
                <a:solidFill>
                  <a:srgbClr val="073763"/>
                </a:solidFill>
                <a:latin typeface="Roboto Slab"/>
                <a:ea typeface="Roboto Slab"/>
                <a:cs typeface="Roboto Slab"/>
                <a:sym typeface="Roboto Slab"/>
              </a:rPr>
              <a:t>TELANGANA MINORITIES STUDY CIRCLE &amp; CAREER COUNSELING CENTRE</a:t>
            </a:r>
            <a:endParaRPr sz="2000" b="1" dirty="0">
              <a:solidFill>
                <a:srgbClr val="073763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pic>
        <p:nvPicPr>
          <p:cNvPr id="68" name="Google Shape;68;p13" descr="telanganalogo.png"/>
          <p:cNvPicPr preferRelativeResize="0"/>
          <p:nvPr/>
        </p:nvPicPr>
        <p:blipFill rotWithShape="1">
          <a:blip r:embed="rId3">
            <a:alphaModFix/>
          </a:blip>
          <a:srcRect t="-2040"/>
          <a:stretch/>
        </p:blipFill>
        <p:spPr>
          <a:xfrm>
            <a:off x="4162599" y="1219376"/>
            <a:ext cx="818800" cy="80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71963" y="-123824"/>
            <a:ext cx="8934600" cy="1314450"/>
          </a:xfrm>
          <a:prstGeom prst="rect">
            <a:avLst/>
          </a:prstGeom>
        </p:spPr>
        <p:txBody>
          <a:bodyPr spcFirstLastPara="1" wrap="square" lIns="91415" tIns="91415" rIns="91415" bIns="91415" anchor="ctr" anchorCtr="0">
            <a:noAutofit/>
          </a:bodyPr>
          <a:lstStyle/>
          <a:p>
            <a:br>
              <a:rPr lang="en-GB" sz="3000" dirty="0">
                <a:solidFill>
                  <a:srgbClr val="073763"/>
                </a:solidFill>
              </a:rPr>
            </a:br>
            <a:r>
              <a:rPr lang="en-GB" sz="2800" dirty="0">
                <a:solidFill>
                  <a:srgbClr val="073763"/>
                </a:solidFill>
              </a:rPr>
              <a:t>MINORITIES WELFARE DEPARTMENT</a:t>
            </a:r>
            <a:br>
              <a:rPr lang="en-GB" sz="3000" dirty="0">
                <a:solidFill>
                  <a:srgbClr val="073763"/>
                </a:solidFill>
              </a:rPr>
            </a:br>
            <a:r>
              <a:rPr lang="en-GB" sz="1800" dirty="0">
                <a:solidFill>
                  <a:srgbClr val="073763"/>
                </a:solidFill>
              </a:rPr>
              <a:t>TELANGANA MINORITIES STUDY CIRCLE &amp; CAREER COUNSELING CENTRE</a:t>
            </a:r>
            <a:endParaRPr sz="3000" dirty="0">
              <a:solidFill>
                <a:srgbClr val="073763"/>
              </a:solidFill>
            </a:endParaRPr>
          </a:p>
        </p:txBody>
      </p:sp>
      <p:sp>
        <p:nvSpPr>
          <p:cNvPr id="74" name="Google Shape;74;p14"/>
          <p:cNvSpPr txBox="1">
            <a:spLocks noGrp="1"/>
          </p:cNvSpPr>
          <p:nvPr>
            <p:ph type="title"/>
          </p:nvPr>
        </p:nvSpPr>
        <p:spPr>
          <a:xfrm>
            <a:off x="286351" y="3975150"/>
            <a:ext cx="8571300" cy="9420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15" tIns="91415" rIns="91415" bIns="91415" anchor="ctr" anchorCtr="0">
            <a:noAutofit/>
          </a:bodyPr>
          <a:lstStyle/>
          <a:p>
            <a:r>
              <a:rPr lang="en-GB" sz="4000" dirty="0">
                <a:solidFill>
                  <a:srgbClr val="073763"/>
                </a:solidFill>
              </a:rPr>
              <a:t>Sri A. </a:t>
            </a:r>
            <a:r>
              <a:rPr lang="en-GB" sz="4000" dirty="0" err="1">
                <a:solidFill>
                  <a:srgbClr val="073763"/>
                </a:solidFill>
              </a:rPr>
              <a:t>Revanth</a:t>
            </a:r>
            <a:r>
              <a:rPr lang="en-GB" sz="4000" dirty="0">
                <a:solidFill>
                  <a:srgbClr val="073763"/>
                </a:solidFill>
              </a:rPr>
              <a:t> Reddy</a:t>
            </a:r>
            <a:endParaRPr sz="4000" dirty="0">
              <a:solidFill>
                <a:srgbClr val="073763"/>
              </a:solidFill>
            </a:endParaRPr>
          </a:p>
          <a:p>
            <a:r>
              <a:rPr lang="en-GB" sz="3000" dirty="0" err="1">
                <a:solidFill>
                  <a:srgbClr val="073763"/>
                </a:solidFill>
              </a:rPr>
              <a:t>Hon’ble</a:t>
            </a:r>
            <a:r>
              <a:rPr lang="en-GB" sz="3000" dirty="0">
                <a:solidFill>
                  <a:srgbClr val="073763"/>
                </a:solidFill>
              </a:rPr>
              <a:t> Chief Minister of </a:t>
            </a:r>
            <a:r>
              <a:rPr lang="en-GB" sz="3000" dirty="0" err="1">
                <a:solidFill>
                  <a:srgbClr val="073763"/>
                </a:solidFill>
              </a:rPr>
              <a:t>Telangana</a:t>
            </a:r>
            <a:endParaRPr sz="3000" dirty="0">
              <a:solidFill>
                <a:srgbClr val="073763"/>
              </a:solidFill>
            </a:endParaRPr>
          </a:p>
        </p:txBody>
      </p:sp>
      <p:pic>
        <p:nvPicPr>
          <p:cNvPr id="75" name="Google Shape;75;p14"/>
          <p:cNvPicPr preferRelativeResize="0"/>
          <p:nvPr/>
        </p:nvPicPr>
        <p:blipFill rotWithShape="1">
          <a:blip r:embed="rId3">
            <a:alphaModFix/>
          </a:blip>
          <a:srcRect b="2846"/>
          <a:stretch/>
        </p:blipFill>
        <p:spPr>
          <a:xfrm>
            <a:off x="3263267" y="1447800"/>
            <a:ext cx="2734199" cy="2385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71963" y="0"/>
            <a:ext cx="8934600" cy="1075075"/>
          </a:xfrm>
          <a:prstGeom prst="rect">
            <a:avLst/>
          </a:prstGeom>
        </p:spPr>
        <p:txBody>
          <a:bodyPr spcFirstLastPara="1" wrap="square" lIns="91415" tIns="91415" rIns="91415" bIns="91415" anchor="ctr" anchorCtr="0">
            <a:noAutofit/>
          </a:bodyPr>
          <a:lstStyle/>
          <a:p>
            <a:br>
              <a:rPr lang="en-GB" sz="3000" dirty="0">
                <a:solidFill>
                  <a:srgbClr val="073763"/>
                </a:solidFill>
              </a:rPr>
            </a:br>
            <a:r>
              <a:rPr lang="en-GB" sz="3000" dirty="0">
                <a:solidFill>
                  <a:srgbClr val="073763"/>
                </a:solidFill>
              </a:rPr>
              <a:t>MINORITIES WELFARE DEPARTMENT</a:t>
            </a:r>
            <a:br>
              <a:rPr lang="en-GB" sz="3000" dirty="0">
                <a:solidFill>
                  <a:srgbClr val="073763"/>
                </a:solidFill>
              </a:rPr>
            </a:br>
            <a:r>
              <a:rPr lang="en-GB" sz="3200" dirty="0">
                <a:solidFill>
                  <a:srgbClr val="073763"/>
                </a:solidFill>
              </a:rPr>
              <a:t> </a:t>
            </a:r>
            <a:r>
              <a:rPr lang="en-GB" sz="1800" dirty="0">
                <a:solidFill>
                  <a:srgbClr val="073763"/>
                </a:solidFill>
              </a:rPr>
              <a:t>TELANGANA MINORITIES STUDY CIRCLE &amp; CAREER COUNSELING CENTRE</a:t>
            </a:r>
            <a:endParaRPr sz="3000" dirty="0">
              <a:solidFill>
                <a:srgbClr val="073763"/>
              </a:solidFill>
            </a:endParaRPr>
          </a:p>
        </p:txBody>
      </p:sp>
      <p:sp>
        <p:nvSpPr>
          <p:cNvPr id="74" name="Google Shape;74;p14"/>
          <p:cNvSpPr txBox="1">
            <a:spLocks noGrp="1"/>
          </p:cNvSpPr>
          <p:nvPr>
            <p:ph type="title"/>
          </p:nvPr>
        </p:nvSpPr>
        <p:spPr>
          <a:xfrm>
            <a:off x="286351" y="3975150"/>
            <a:ext cx="8571300" cy="942000"/>
          </a:xfrm>
          <a:prstGeom prst="rect">
            <a:avLst/>
          </a:prstGeom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15" tIns="91415" rIns="91415" bIns="91415" anchor="ctr" anchorCtr="0">
            <a:noAutofit/>
          </a:bodyPr>
          <a:lstStyle/>
          <a:p>
            <a:r>
              <a:rPr lang="en-GB" sz="3200" dirty="0">
                <a:solidFill>
                  <a:srgbClr val="073763"/>
                </a:solidFill>
              </a:rPr>
              <a:t>Sri MOHAMMAD AZHARUDDIN</a:t>
            </a:r>
            <a:br>
              <a:rPr lang="en-GB" sz="4000" dirty="0">
                <a:solidFill>
                  <a:srgbClr val="073763"/>
                </a:solidFill>
              </a:rPr>
            </a:br>
            <a:r>
              <a:rPr lang="en-GB" sz="1800" dirty="0" err="1">
                <a:solidFill>
                  <a:srgbClr val="073763"/>
                </a:solidFill>
              </a:rPr>
              <a:t>Hon’ble</a:t>
            </a:r>
            <a:r>
              <a:rPr lang="en-GB" sz="1800" dirty="0">
                <a:solidFill>
                  <a:srgbClr val="073763"/>
                </a:solidFill>
              </a:rPr>
              <a:t> Minister for Minorities Welfare &amp; Public Enterprises in </a:t>
            </a:r>
            <a:r>
              <a:rPr lang="en-GB" sz="1800" dirty="0" err="1">
                <a:solidFill>
                  <a:srgbClr val="073763"/>
                </a:solidFill>
              </a:rPr>
              <a:t>Telangana</a:t>
            </a:r>
            <a:endParaRPr sz="3000" dirty="0">
              <a:solidFill>
                <a:srgbClr val="073763"/>
              </a:solidFill>
            </a:endParaRPr>
          </a:p>
        </p:txBody>
      </p:sp>
      <p:pic>
        <p:nvPicPr>
          <p:cNvPr id="2050" name="Picture 2" descr="Minorities Welfare - Telangana State Portal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5976" y="1319213"/>
            <a:ext cx="2254250" cy="260949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209550"/>
            <a:ext cx="8520600" cy="942875"/>
          </a:xfrm>
        </p:spPr>
        <p:txBody>
          <a:bodyPr>
            <a:noAutofit/>
          </a:bodyPr>
          <a:lstStyle/>
          <a:p>
            <a:pPr algn="ctr"/>
            <a:r>
              <a:rPr lang="en-GB" sz="2400" u="sng" dirty="0">
                <a:solidFill>
                  <a:srgbClr val="073763"/>
                </a:solidFill>
              </a:rPr>
              <a:t>TELANGANA MINORITIES STUDY CIRCLE &amp; CAREER COUNSELING CENTRE</a:t>
            </a:r>
            <a:endParaRPr lang="en-US" sz="2400" u="sng" dirty="0">
              <a:solidFill>
                <a:srgbClr val="0070C0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104900"/>
            <a:ext cx="8520600" cy="367665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1200" b="1" dirty="0">
                <a:solidFill>
                  <a:srgbClr val="002060"/>
                </a:solidFill>
                <a:latin typeface="Roboto Slab"/>
              </a:rPr>
              <a:t>The Government have issued orders to start </a:t>
            </a:r>
            <a:r>
              <a:rPr lang="en-IN" sz="1200" b="1" dirty="0" err="1">
                <a:solidFill>
                  <a:srgbClr val="002060"/>
                </a:solidFill>
                <a:latin typeface="Roboto Slab"/>
              </a:rPr>
              <a:t>Telangana</a:t>
            </a:r>
            <a:r>
              <a:rPr lang="en-IN" sz="1200" b="1" dirty="0">
                <a:solidFill>
                  <a:srgbClr val="002060"/>
                </a:solidFill>
                <a:latin typeface="Roboto Slab"/>
              </a:rPr>
              <a:t> Minorities Study Circle, Hyderabad with  prime objective of Study Circle is to increase the Employment percentage of the Minorities in Central/State Government, Quasi Government and Private Sector by  providing free coaching for the various jobs/posts notified by the Government and other Agencies and inaugurated on 24.09.2015 in terms of G.O.Ms.No.37, Minorities Welfare (</a:t>
            </a:r>
            <a:r>
              <a:rPr lang="en-IN" sz="1200" b="1" dirty="0" err="1">
                <a:solidFill>
                  <a:srgbClr val="002060"/>
                </a:solidFill>
                <a:latin typeface="Roboto Slab"/>
              </a:rPr>
              <a:t>Estt.I</a:t>
            </a:r>
            <a:r>
              <a:rPr lang="en-IN" sz="1200" b="1" dirty="0">
                <a:solidFill>
                  <a:srgbClr val="002060"/>
                </a:solidFill>
                <a:latin typeface="Roboto Slab"/>
              </a:rPr>
              <a:t>) Department, dt.03.08.2015. </a:t>
            </a:r>
          </a:p>
          <a:p>
            <a:pPr>
              <a:lnSpc>
                <a:spcPct val="150000"/>
              </a:lnSpc>
              <a:buNone/>
            </a:pPr>
            <a:endParaRPr lang="en-IN" sz="1200" b="1" dirty="0">
              <a:solidFill>
                <a:srgbClr val="002060"/>
              </a:solidFill>
              <a:latin typeface="Roboto Slab"/>
            </a:endParaRPr>
          </a:p>
          <a:p>
            <a:pPr>
              <a:lnSpc>
                <a:spcPct val="110000"/>
              </a:lnSpc>
              <a:buNone/>
            </a:pPr>
            <a:endParaRPr lang="en-IN" sz="1400" dirty="0">
              <a:solidFill>
                <a:srgbClr val="002060"/>
              </a:solidFill>
              <a:latin typeface="Roboto Slab"/>
            </a:endParaRPr>
          </a:p>
          <a:p>
            <a:pPr>
              <a:lnSpc>
                <a:spcPct val="150000"/>
              </a:lnSpc>
            </a:pPr>
            <a:r>
              <a:rPr lang="en-IN" sz="1200" b="1" dirty="0">
                <a:solidFill>
                  <a:srgbClr val="002060"/>
                </a:solidFill>
                <a:latin typeface="Roboto Slab"/>
              </a:rPr>
              <a:t>Further, the Government have permitted the Director, </a:t>
            </a:r>
            <a:r>
              <a:rPr lang="en-IN" sz="1200" b="1" dirty="0" err="1">
                <a:solidFill>
                  <a:srgbClr val="002060"/>
                </a:solidFill>
                <a:latin typeface="Roboto Slab"/>
              </a:rPr>
              <a:t>Telangana</a:t>
            </a:r>
            <a:r>
              <a:rPr lang="en-IN" sz="1200" b="1" dirty="0">
                <a:solidFill>
                  <a:srgbClr val="002060"/>
                </a:solidFill>
                <a:latin typeface="Roboto Slab"/>
              </a:rPr>
              <a:t>  Minorities Study Circle, Hyderabad to start the Career Counselling Centre vide Government Memo No.163/</a:t>
            </a:r>
            <a:r>
              <a:rPr lang="en-IN" sz="1200" b="1" dirty="0" err="1">
                <a:solidFill>
                  <a:srgbClr val="002060"/>
                </a:solidFill>
                <a:latin typeface="Roboto Slab"/>
              </a:rPr>
              <a:t>Estt.I</a:t>
            </a:r>
            <a:r>
              <a:rPr lang="en-IN" sz="1200" b="1" dirty="0">
                <a:solidFill>
                  <a:srgbClr val="002060"/>
                </a:solidFill>
                <a:latin typeface="Roboto Slab"/>
              </a:rPr>
              <a:t>/A1/2017, dt.30.10.2017, Minorities Welfare (</a:t>
            </a:r>
            <a:r>
              <a:rPr lang="en-IN" sz="1200" b="1" dirty="0" err="1">
                <a:solidFill>
                  <a:srgbClr val="002060"/>
                </a:solidFill>
                <a:latin typeface="Roboto Slab"/>
              </a:rPr>
              <a:t>Estt.I</a:t>
            </a:r>
            <a:r>
              <a:rPr lang="en-IN" sz="1200" b="1" dirty="0">
                <a:solidFill>
                  <a:srgbClr val="002060"/>
                </a:solidFill>
                <a:latin typeface="Roboto Slab"/>
              </a:rPr>
              <a:t>) Department. </a:t>
            </a:r>
            <a:endParaRPr lang="en-US" sz="1200" b="1" dirty="0">
              <a:solidFill>
                <a:srgbClr val="002060"/>
              </a:solidFill>
              <a:latin typeface="Roboto Slab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4</a:t>
            </a:fld>
            <a:endParaRPr lang="en-GB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61925"/>
            <a:ext cx="8520600" cy="628650"/>
          </a:xfrm>
        </p:spPr>
        <p:txBody>
          <a:bodyPr>
            <a:normAutofit fontScale="90000"/>
          </a:bodyPr>
          <a:lstStyle/>
          <a:p>
            <a:pPr lvl="0" algn="ctr"/>
            <a:r>
              <a:rPr lang="en-GB" sz="2200" u="sng" dirty="0">
                <a:solidFill>
                  <a:srgbClr val="073763"/>
                </a:solidFill>
              </a:rPr>
              <a:t>TELANGANA MINORITIES STUDY CIRCLE &amp; CAREER COUNSELING CENTRE</a:t>
            </a:r>
            <a:br>
              <a:rPr lang="en-GB" dirty="0">
                <a:solidFill>
                  <a:srgbClr val="073763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428625"/>
            <a:ext cx="8641800" cy="5305426"/>
          </a:xfrm>
        </p:spPr>
        <p:txBody>
          <a:bodyPr>
            <a:normAutofit fontScale="25000" lnSpcReduction="20000"/>
          </a:bodyPr>
          <a:lstStyle/>
          <a:p>
            <a:pPr indent="-361909" algn="ctr">
              <a:lnSpc>
                <a:spcPct val="100000"/>
              </a:lnSpc>
              <a:spcBef>
                <a:spcPts val="1000"/>
              </a:spcBef>
              <a:buClr>
                <a:srgbClr val="073763"/>
              </a:buClr>
              <a:buSzPts val="2100"/>
              <a:buNone/>
            </a:pPr>
            <a:endParaRPr lang="en-US" sz="4400" b="1" u="sng" dirty="0">
              <a:solidFill>
                <a:srgbClr val="073763"/>
              </a:solidFill>
            </a:endParaRPr>
          </a:p>
          <a:p>
            <a:pPr lvl="1" indent="-342861" algn="ctr">
              <a:lnSpc>
                <a:spcPct val="100000"/>
              </a:lnSpc>
              <a:spcBef>
                <a:spcPts val="1000"/>
              </a:spcBef>
              <a:buClr>
                <a:srgbClr val="073763"/>
              </a:buClr>
              <a:buSzPts val="1800"/>
              <a:buNone/>
            </a:pPr>
            <a:r>
              <a:rPr lang="en-US" sz="11200" b="1" dirty="0">
                <a:solidFill>
                  <a:srgbClr val="073763"/>
                </a:solidFill>
                <a:latin typeface="Roboto Slab"/>
              </a:rPr>
              <a:t>     </a:t>
            </a:r>
            <a:r>
              <a:rPr lang="en-US" sz="8000" b="1" u="sng" dirty="0">
                <a:solidFill>
                  <a:srgbClr val="073763"/>
                </a:solidFill>
                <a:latin typeface="Roboto Slab"/>
              </a:rPr>
              <a:t>COURSES OFFERED for Notification: </a:t>
            </a:r>
            <a:endParaRPr lang="en-US" sz="11200" b="1" u="sng" dirty="0">
              <a:solidFill>
                <a:srgbClr val="073763"/>
              </a:solidFill>
              <a:latin typeface="Roboto Slab"/>
            </a:endParaRPr>
          </a:p>
          <a:p>
            <a:pPr lvl="1" indent="-342861" algn="just">
              <a:lnSpc>
                <a:spcPct val="100000"/>
              </a:lnSpc>
              <a:spcBef>
                <a:spcPts val="1000"/>
              </a:spcBef>
              <a:buClr>
                <a:srgbClr val="073763"/>
              </a:buClr>
              <a:buSzPts val="1800"/>
              <a:buFont typeface="Wingdings" pitchFamily="2" charset="2"/>
              <a:buChar char="Ø"/>
            </a:pPr>
            <a:r>
              <a:rPr lang="en-US" sz="4800" b="1" dirty="0">
                <a:solidFill>
                  <a:srgbClr val="073763"/>
                </a:solidFill>
                <a:latin typeface="Roboto Slab"/>
              </a:rPr>
              <a:t>U.P.S.C. Civil Services Recruitment. (Civil Services)</a:t>
            </a:r>
          </a:p>
          <a:p>
            <a:pPr lvl="1" indent="-342861" algn="just">
              <a:lnSpc>
                <a:spcPct val="100000"/>
              </a:lnSpc>
              <a:spcBef>
                <a:spcPts val="1000"/>
              </a:spcBef>
              <a:buClr>
                <a:srgbClr val="073763"/>
              </a:buClr>
              <a:buSzPts val="1800"/>
              <a:buFont typeface="Wingdings" pitchFamily="2" charset="2"/>
              <a:buChar char="Ø"/>
            </a:pPr>
            <a:r>
              <a:rPr lang="en-US" sz="4800" b="1" dirty="0" err="1">
                <a:solidFill>
                  <a:srgbClr val="073763"/>
                </a:solidFill>
                <a:latin typeface="Roboto Slab"/>
              </a:rPr>
              <a:t>Telangana</a:t>
            </a:r>
            <a:r>
              <a:rPr lang="en-US" sz="4800" b="1" dirty="0">
                <a:solidFill>
                  <a:srgbClr val="073763"/>
                </a:solidFill>
                <a:latin typeface="Roboto Slab"/>
              </a:rPr>
              <a:t> Public Service Commission (Group – I, II, III &amp; IV)</a:t>
            </a:r>
          </a:p>
          <a:p>
            <a:pPr lvl="1" indent="-342861" algn="just">
              <a:lnSpc>
                <a:spcPct val="100000"/>
              </a:lnSpc>
              <a:spcBef>
                <a:spcPts val="1000"/>
              </a:spcBef>
              <a:buClr>
                <a:srgbClr val="073763"/>
              </a:buClr>
              <a:buSzPts val="1800"/>
              <a:buFont typeface="Wingdings" pitchFamily="2" charset="2"/>
              <a:buChar char="Ø"/>
            </a:pPr>
            <a:r>
              <a:rPr lang="en-US" sz="4800" b="1" dirty="0">
                <a:solidFill>
                  <a:srgbClr val="073763"/>
                </a:solidFill>
                <a:latin typeface="Roboto Slab"/>
              </a:rPr>
              <a:t>S.I (Sub Inspector), Police Constable, other Recruitment from Police Recruitment Board</a:t>
            </a:r>
          </a:p>
          <a:p>
            <a:pPr lvl="1" indent="-342861" algn="just">
              <a:lnSpc>
                <a:spcPct val="100000"/>
              </a:lnSpc>
              <a:spcBef>
                <a:spcPts val="1000"/>
              </a:spcBef>
              <a:buClr>
                <a:srgbClr val="073763"/>
              </a:buClr>
              <a:buSzPts val="1800"/>
              <a:buFont typeface="Wingdings" pitchFamily="2" charset="2"/>
              <a:buChar char="Ø"/>
            </a:pPr>
            <a:r>
              <a:rPr lang="en-US" sz="4800" b="1" dirty="0">
                <a:solidFill>
                  <a:srgbClr val="073763"/>
                </a:solidFill>
                <a:latin typeface="Roboto Slab"/>
              </a:rPr>
              <a:t>Staff Selection Commission</a:t>
            </a:r>
          </a:p>
          <a:p>
            <a:pPr lvl="1" indent="-342861" algn="just">
              <a:lnSpc>
                <a:spcPct val="100000"/>
              </a:lnSpc>
              <a:spcBef>
                <a:spcPts val="1000"/>
              </a:spcBef>
              <a:buClr>
                <a:srgbClr val="073763"/>
              </a:buClr>
              <a:buSzPts val="1800"/>
              <a:buFont typeface="Wingdings" pitchFamily="2" charset="2"/>
              <a:buChar char="Ø"/>
            </a:pPr>
            <a:r>
              <a:rPr lang="en-US" sz="4800" b="1" dirty="0">
                <a:solidFill>
                  <a:srgbClr val="073763"/>
                </a:solidFill>
                <a:latin typeface="Roboto Slab"/>
              </a:rPr>
              <a:t>Rail Recruitment Board.</a:t>
            </a:r>
          </a:p>
          <a:p>
            <a:pPr lvl="1" indent="-342861" algn="just">
              <a:lnSpc>
                <a:spcPct val="100000"/>
              </a:lnSpc>
              <a:spcBef>
                <a:spcPts val="1000"/>
              </a:spcBef>
              <a:buClr>
                <a:srgbClr val="073763"/>
              </a:buClr>
              <a:buSzPts val="1800"/>
              <a:buFont typeface="Wingdings" pitchFamily="2" charset="2"/>
              <a:buChar char="Ø"/>
            </a:pPr>
            <a:r>
              <a:rPr lang="en-US" sz="4800" b="1" dirty="0">
                <a:solidFill>
                  <a:srgbClr val="073763"/>
                </a:solidFill>
                <a:latin typeface="Roboto Slab"/>
              </a:rPr>
              <a:t>IBPS –Banking Probationary Officers</a:t>
            </a:r>
          </a:p>
          <a:p>
            <a:pPr lvl="1" indent="-342861" algn="just">
              <a:lnSpc>
                <a:spcPct val="100000"/>
              </a:lnSpc>
              <a:spcBef>
                <a:spcPts val="1000"/>
              </a:spcBef>
              <a:buClr>
                <a:srgbClr val="073763"/>
              </a:buClr>
              <a:buSzPts val="1800"/>
              <a:buFont typeface="Wingdings" pitchFamily="2" charset="2"/>
              <a:buChar char="Ø"/>
            </a:pPr>
            <a:r>
              <a:rPr lang="en-US" sz="4800" b="1" dirty="0">
                <a:solidFill>
                  <a:srgbClr val="073763"/>
                </a:solidFill>
                <a:latin typeface="Roboto Slab"/>
              </a:rPr>
              <a:t> Armed Forces Recruitment</a:t>
            </a:r>
          </a:p>
          <a:p>
            <a:pPr lvl="1" indent="-342861" algn="just">
              <a:lnSpc>
                <a:spcPct val="100000"/>
              </a:lnSpc>
              <a:spcBef>
                <a:spcPts val="1000"/>
              </a:spcBef>
              <a:buClr>
                <a:srgbClr val="073763"/>
              </a:buClr>
              <a:buSzPts val="1800"/>
              <a:buFont typeface="Wingdings" pitchFamily="2" charset="2"/>
              <a:buChar char="Ø"/>
            </a:pPr>
            <a:r>
              <a:rPr lang="en-US" sz="4800" b="1" dirty="0">
                <a:solidFill>
                  <a:srgbClr val="073763"/>
                </a:solidFill>
                <a:latin typeface="Roboto Slab"/>
              </a:rPr>
              <a:t>IELTS &amp; GRE</a:t>
            </a:r>
          </a:p>
          <a:p>
            <a:pPr lvl="1" indent="-342861" algn="just">
              <a:lnSpc>
                <a:spcPct val="100000"/>
              </a:lnSpc>
              <a:spcBef>
                <a:spcPts val="1000"/>
              </a:spcBef>
              <a:buClr>
                <a:srgbClr val="073763"/>
              </a:buClr>
              <a:buSzPts val="1800"/>
              <a:buFont typeface="Wingdings" pitchFamily="2" charset="2"/>
              <a:buChar char="Ø"/>
            </a:pPr>
            <a:r>
              <a:rPr lang="en-US" sz="4800" b="1" dirty="0">
                <a:solidFill>
                  <a:srgbClr val="073763"/>
                </a:solidFill>
                <a:latin typeface="Roboto Slab"/>
              </a:rPr>
              <a:t>Basic Foundation Course</a:t>
            </a:r>
          </a:p>
          <a:p>
            <a:pPr lvl="1" indent="-342861" algn="just">
              <a:lnSpc>
                <a:spcPct val="100000"/>
              </a:lnSpc>
              <a:spcBef>
                <a:spcPts val="1000"/>
              </a:spcBef>
              <a:buClr>
                <a:srgbClr val="073763"/>
              </a:buClr>
              <a:buSzPts val="1800"/>
              <a:buFont typeface="Wingdings" pitchFamily="2" charset="2"/>
              <a:buChar char="Ø"/>
            </a:pPr>
            <a:r>
              <a:rPr lang="en-US" sz="4800" b="1" dirty="0">
                <a:solidFill>
                  <a:srgbClr val="073763"/>
                </a:solidFill>
                <a:latin typeface="Roboto Slab"/>
              </a:rPr>
              <a:t>Para Military, CDS(Combined Defense Services), NDA (National Defense Academy), Central Excise, Teachers/ Lecturers/Engineers Recruitment.</a:t>
            </a:r>
          </a:p>
          <a:p>
            <a:pPr lvl="1" indent="-342861" algn="just">
              <a:lnSpc>
                <a:spcPct val="100000"/>
              </a:lnSpc>
              <a:spcBef>
                <a:spcPts val="1000"/>
              </a:spcBef>
              <a:buClr>
                <a:srgbClr val="073763"/>
              </a:buClr>
              <a:buSzPts val="1800"/>
              <a:buFont typeface="Wingdings" pitchFamily="2" charset="2"/>
              <a:buChar char="Ø"/>
            </a:pPr>
            <a:r>
              <a:rPr lang="en-US" sz="4800" b="1" dirty="0">
                <a:solidFill>
                  <a:srgbClr val="073763"/>
                </a:solidFill>
                <a:latin typeface="Roboto Slab"/>
              </a:rPr>
              <a:t>Any other Competitive exams leading to employment.</a:t>
            </a:r>
          </a:p>
          <a:p>
            <a:pPr lvl="1" indent="-342861" algn="just">
              <a:lnSpc>
                <a:spcPct val="100000"/>
              </a:lnSpc>
              <a:spcBef>
                <a:spcPts val="1000"/>
              </a:spcBef>
              <a:buClr>
                <a:srgbClr val="073763"/>
              </a:buClr>
              <a:buSzPts val="1800"/>
              <a:buFont typeface="Wingdings" pitchFamily="2" charset="2"/>
              <a:buChar char="Ø"/>
            </a:pPr>
            <a:r>
              <a:rPr lang="en-US" sz="4800" b="1" dirty="0">
                <a:solidFill>
                  <a:srgbClr val="073763"/>
                </a:solidFill>
                <a:latin typeface="Roboto Slab"/>
              </a:rPr>
              <a:t>The total </a:t>
            </a:r>
            <a:r>
              <a:rPr lang="en-US" sz="4800" b="1" dirty="0" err="1">
                <a:solidFill>
                  <a:srgbClr val="073763"/>
                </a:solidFill>
                <a:latin typeface="Roboto Slab"/>
              </a:rPr>
              <a:t>no.of</a:t>
            </a:r>
            <a:r>
              <a:rPr lang="en-US" sz="4800" b="1" dirty="0">
                <a:solidFill>
                  <a:srgbClr val="073763"/>
                </a:solidFill>
                <a:latin typeface="Roboto Slab"/>
              </a:rPr>
              <a:t> (11,960) Candidates, have been imparted free coaching, in various courses since the inception of the </a:t>
            </a:r>
            <a:r>
              <a:rPr lang="en-US" sz="4800" b="1" dirty="0" err="1">
                <a:solidFill>
                  <a:srgbClr val="073763"/>
                </a:solidFill>
                <a:latin typeface="Roboto Slab"/>
              </a:rPr>
              <a:t>Telangana</a:t>
            </a:r>
            <a:r>
              <a:rPr lang="en-US" sz="4800" b="1" dirty="0">
                <a:solidFill>
                  <a:srgbClr val="073763"/>
                </a:solidFill>
                <a:latin typeface="Roboto Slab"/>
              </a:rPr>
              <a:t> Minorities Study Circle to till now.</a:t>
            </a:r>
          </a:p>
          <a:p>
            <a:pPr lvl="1" indent="-342861" algn="just">
              <a:lnSpc>
                <a:spcPct val="100000"/>
              </a:lnSpc>
              <a:spcBef>
                <a:spcPts val="1000"/>
              </a:spcBef>
              <a:buClr>
                <a:srgbClr val="073763"/>
              </a:buClr>
              <a:buSzPts val="1800"/>
              <a:buNone/>
            </a:pPr>
            <a:endParaRPr lang="en-US" sz="1200" dirty="0">
              <a:solidFill>
                <a:srgbClr val="073763"/>
              </a:solidFill>
            </a:endParaRPr>
          </a:p>
          <a:p>
            <a:pPr lvl="1" indent="-342861" algn="just">
              <a:lnSpc>
                <a:spcPct val="100000"/>
              </a:lnSpc>
              <a:spcBef>
                <a:spcPts val="1000"/>
              </a:spcBef>
              <a:buClr>
                <a:srgbClr val="073763"/>
              </a:buClr>
              <a:buSzPts val="1800"/>
              <a:buFont typeface="Wingdings" pitchFamily="2" charset="2"/>
              <a:buChar char="Ø"/>
            </a:pPr>
            <a:endParaRPr lang="en-US" sz="1800" dirty="0">
              <a:solidFill>
                <a:srgbClr val="073763"/>
              </a:solidFill>
            </a:endParaRPr>
          </a:p>
          <a:p>
            <a:pPr marL="0" indent="0" algn="just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dirty="0">
                <a:solidFill>
                  <a:srgbClr val="073763"/>
                </a:solidFill>
              </a:rPr>
              <a:t>		</a:t>
            </a:r>
            <a:r>
              <a:rPr lang="en-US" sz="1900" b="1" dirty="0">
                <a:solidFill>
                  <a:srgbClr val="073763"/>
                </a:solidFill>
              </a:rPr>
              <a:t>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5</a:t>
            </a:fld>
            <a:endParaRPr lang="en-GB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2021-2022 (No. of STUDENTS BENEFITTED)</a:t>
            </a:r>
            <a:br>
              <a:rPr lang="en-US" sz="2800" dirty="0">
                <a:solidFill>
                  <a:srgbClr val="002060"/>
                </a:solidFill>
              </a:rPr>
            </a:br>
            <a:endParaRPr lang="en-US" sz="28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311150" y="1266825"/>
          <a:ext cx="8521700" cy="2514600"/>
        </p:xfrm>
        <a:graphic>
          <a:graphicData uri="http://schemas.openxmlformats.org/drawingml/2006/table">
            <a:tbl>
              <a:tblPr firstRow="1" bandRow="1">
                <a:tableStyleId>{CBCAB5CB-F2BF-42F4-AB10-25D7BBCC4597}</a:tableStyleId>
              </a:tblPr>
              <a:tblGrid>
                <a:gridCol w="105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2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2400" b="0" i="0" u="none" strike="noStrike" cap="none" dirty="0">
                        <a:solidFill>
                          <a:srgbClr val="002060"/>
                        </a:solidFill>
                        <a:latin typeface="Calibri" pitchFamily="34" charset="0"/>
                        <a:ea typeface="+mn-ea"/>
                        <a:cs typeface="Calibri" pitchFamily="34" charset="0"/>
                        <a:sym typeface="Arial"/>
                      </a:endParaRP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400" b="0" i="0" u="none" strike="noStrike" cap="none" dirty="0">
                          <a:solidFill>
                            <a:srgbClr val="002060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  <a:sym typeface="Arial"/>
                        </a:rPr>
                        <a:t>    </a:t>
                      </a:r>
                    </a:p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2400" b="0" i="0" u="none" strike="noStrike" cap="none" dirty="0">
                          <a:solidFill>
                            <a:srgbClr val="002060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  <a:sym typeface="Arial"/>
                        </a:rPr>
                        <a:t>1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2400" b="0" i="0" u="none" strike="noStrike" cap="none" dirty="0">
                        <a:solidFill>
                          <a:srgbClr val="002060"/>
                        </a:solidFill>
                        <a:latin typeface="Calibri" pitchFamily="34" charset="0"/>
                        <a:ea typeface="+mn-ea"/>
                        <a:cs typeface="Calibri" pitchFamily="34" charset="0"/>
                        <a:sym typeface="Arial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2400" b="0" i="0" u="none" strike="noStrike" cap="none" dirty="0">
                        <a:solidFill>
                          <a:srgbClr val="002060"/>
                        </a:solidFill>
                        <a:latin typeface="Calibri" pitchFamily="34" charset="0"/>
                        <a:ea typeface="+mn-ea"/>
                        <a:cs typeface="Calibri" pitchFamily="34" charset="0"/>
                        <a:sym typeface="Arial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b="0" i="0" u="none" strike="noStrike" cap="none" dirty="0">
                          <a:solidFill>
                            <a:srgbClr val="002060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  <a:sym typeface="Arial"/>
                        </a:rPr>
                        <a:t>UPSC CSE – 2022  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2400" b="0" i="0" u="none" strike="noStrike" cap="none" dirty="0">
                        <a:solidFill>
                          <a:srgbClr val="002060"/>
                        </a:solidFill>
                        <a:latin typeface="Calibri" pitchFamily="34" charset="0"/>
                        <a:ea typeface="+mn-ea"/>
                        <a:cs typeface="Calibri" pitchFamily="34" charset="0"/>
                        <a:sym typeface="Arial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2400" b="0" i="0" u="none" strike="noStrike" cap="none" dirty="0">
                        <a:solidFill>
                          <a:srgbClr val="002060"/>
                        </a:solidFill>
                        <a:latin typeface="Calibri" pitchFamily="34" charset="0"/>
                        <a:ea typeface="+mn-ea"/>
                        <a:cs typeface="Calibri" pitchFamily="34" charset="0"/>
                        <a:sym typeface="Arial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400" b="0" i="0" u="none" strike="noStrike" cap="none" dirty="0">
                          <a:solidFill>
                            <a:srgbClr val="002060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  <a:sym typeface="Arial"/>
                        </a:rPr>
                        <a:t>100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en-US" sz="2400" b="0" i="0" u="none" strike="noStrike" kern="1200" cap="none" dirty="0">
                        <a:solidFill>
                          <a:srgbClr val="002060"/>
                        </a:solidFill>
                        <a:latin typeface="Calibri" pitchFamily="34" charset="0"/>
                        <a:ea typeface="+mn-ea"/>
                        <a:cs typeface="Calibri" pitchFamily="34" charset="0"/>
                        <a:sym typeface="Arial"/>
                      </a:endParaRPr>
                    </a:p>
                    <a:p>
                      <a:pPr algn="l"/>
                      <a:r>
                        <a:rPr lang="en-US" sz="2400" b="0" i="0" u="none" strike="noStrike" kern="1200" cap="none" dirty="0">
                          <a:solidFill>
                            <a:srgbClr val="002060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  <a:sym typeface="Arial"/>
                        </a:rPr>
                        <a:t>2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rgbClr val="002060"/>
                        </a:solidFill>
                        <a:latin typeface="Calibri" pitchFamily="34" charset="0"/>
                        <a:ea typeface="+mn-ea"/>
                        <a:cs typeface="Calibri" pitchFamily="34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 dirty="0">
                          <a:solidFill>
                            <a:srgbClr val="002060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</a:rPr>
                        <a:t>Basic</a:t>
                      </a:r>
                      <a:r>
                        <a:rPr lang="en-US" sz="2400" kern="1200" baseline="0" dirty="0">
                          <a:solidFill>
                            <a:srgbClr val="002060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</a:rPr>
                        <a:t> Foundation Course Coaching</a:t>
                      </a:r>
                      <a:endParaRPr lang="en-US" sz="1800" dirty="0">
                        <a:solidFill>
                          <a:srgbClr val="002060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i="0" u="none" strike="noStrike" kern="1200" cap="none" dirty="0">
                        <a:solidFill>
                          <a:srgbClr val="002060"/>
                        </a:solidFill>
                        <a:latin typeface="Calibri" pitchFamily="34" charset="0"/>
                        <a:ea typeface="+mn-ea"/>
                        <a:cs typeface="Calibri" pitchFamily="34" charset="0"/>
                        <a:sym typeface="Arial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i="0" u="none" strike="noStrike" kern="1200" cap="none" dirty="0">
                          <a:solidFill>
                            <a:srgbClr val="002060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  <a:sym typeface="Arial"/>
                        </a:rPr>
                        <a:t>304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800" dirty="0"/>
                    </a:p>
                    <a:p>
                      <a:endParaRPr lang="en-US" sz="1800" dirty="0"/>
                    </a:p>
                    <a:p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rgbClr val="002060"/>
                          </a:solidFill>
                          <a:latin typeface="Calibri" pitchFamily="34" charset="0"/>
                          <a:cs typeface="Calibri" pitchFamily="34" charset="0"/>
                        </a:rPr>
                        <a:t>Sub Total</a:t>
                      </a:r>
                    </a:p>
                  </a:txBody>
                  <a:tcPr marT="34290" marB="34290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i="0" u="none" strike="noStrike" kern="1200" cap="none" dirty="0">
                          <a:solidFill>
                            <a:srgbClr val="002060"/>
                          </a:solidFill>
                          <a:latin typeface="Calibri" pitchFamily="34" charset="0"/>
                          <a:ea typeface="+mn-ea"/>
                          <a:cs typeface="Calibri" pitchFamily="34" charset="0"/>
                          <a:sym typeface="Arial"/>
                        </a:rPr>
                        <a:t>404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0"/>
            <a:ext cx="8520600" cy="981075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2022-2023 (No. of STUDENTS BENEFITTED)</a:t>
            </a:r>
            <a:br>
              <a:rPr lang="en-US" sz="2800" dirty="0">
                <a:solidFill>
                  <a:srgbClr val="002060"/>
                </a:solidFill>
              </a:rPr>
            </a:br>
            <a:endParaRPr lang="en-US" sz="28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311150" y="485778"/>
          <a:ext cx="8521700" cy="4114683"/>
        </p:xfrm>
        <a:graphic>
          <a:graphicData uri="http://schemas.openxmlformats.org/drawingml/2006/table">
            <a:tbl>
              <a:tblPr firstRow="1" bandRow="1">
                <a:tableStyleId>{CBCAB5CB-F2BF-42F4-AB10-25D7BBCC4597}</a:tableStyleId>
              </a:tblPr>
              <a:tblGrid>
                <a:gridCol w="79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9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2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2455">
                <a:tc>
                  <a:txBody>
                    <a:bodyPr/>
                    <a:lstStyle/>
                    <a:p>
                      <a:pPr algn="ctr"/>
                      <a:endParaRPr lang="en-US" sz="1400" b="0" i="0" u="none" strike="noStrike" kern="1200" cap="none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algn="ctr"/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Combined Group-I (Prelims),</a:t>
                      </a:r>
                      <a:r>
                        <a:rPr lang="en-US" sz="1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II &amp; III coaching in </a:t>
                      </a:r>
                      <a:r>
                        <a:rPr lang="en-US" sz="140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Erswhile</a:t>
                      </a:r>
                      <a:r>
                        <a:rPr lang="en-US" sz="1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Districts</a:t>
                      </a:r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0" i="0" u="none" strike="noStrike" kern="1200" cap="none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1124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116">
                <a:tc>
                  <a:txBody>
                    <a:bodyPr/>
                    <a:lstStyle/>
                    <a:p>
                      <a:pPr algn="ctr"/>
                      <a:endParaRPr lang="en-US" sz="1400" b="0" i="0" u="none" strike="noStrike" kern="1200" cap="none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algn="ctr"/>
                      <a:endParaRPr lang="en-US" sz="1400" b="0" i="0" u="none" strike="noStrike" kern="1200" cap="none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algn="ctr"/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Combined</a:t>
                      </a:r>
                      <a:r>
                        <a:rPr lang="en-US" sz="1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Group-I (Prelims), II &amp; III Coaching in Urdu Medium at TGSMC</a:t>
                      </a:r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69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201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kern="1200" cap="none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Group – IV </a:t>
                      </a:r>
                      <a:r>
                        <a:rPr lang="en-US" sz="1400" b="0" i="0" u="none" strike="noStrike" kern="1200" cap="none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Caoching</a:t>
                      </a:r>
                      <a:r>
                        <a:rPr lang="en-US" sz="1400" b="0" i="0" u="none" strike="noStrike" kern="1200" cap="none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 in all Districts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413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4655">
                <a:tc>
                  <a:txBody>
                    <a:bodyPr/>
                    <a:lstStyle/>
                    <a:p>
                      <a:pPr algn="ctr"/>
                      <a:endParaRPr lang="en-US" sz="1400" b="0" i="0" u="none" strike="noStrike" kern="1200" cap="none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algn="ctr"/>
                      <a:endParaRPr lang="en-US" sz="1400" b="0" i="0" u="none" strike="noStrike" kern="1200" cap="none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algn="ctr"/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4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SI/</a:t>
                      </a:r>
                      <a:r>
                        <a:rPr lang="en-US" sz="1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Constable free coaching conducted by Police Department  under supervision of DMWOs concerned in </a:t>
                      </a:r>
                      <a:r>
                        <a:rPr lang="en-US" sz="140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Nizamabad</a:t>
                      </a:r>
                      <a:r>
                        <a:rPr lang="en-US" sz="1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n-US" sz="140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Khammam</a:t>
                      </a:r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167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01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UPSC CSE</a:t>
                      </a:r>
                      <a:r>
                        <a:rPr lang="en-US" sz="1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-2023</a:t>
                      </a:r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100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827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6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Group-IV,</a:t>
                      </a:r>
                      <a:r>
                        <a:rPr lang="en-US" sz="1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AEE, Women and Child Welfare Officers Coaching at </a:t>
                      </a:r>
                      <a:r>
                        <a:rPr lang="en-US" sz="140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Nizamabad</a:t>
                      </a:r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66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9135">
                <a:tc gridSpan="2"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Sub Total</a:t>
                      </a:r>
                    </a:p>
                  </a:txBody>
                  <a:tcPr marT="34290" marB="34290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kern="1200" cap="none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1939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0"/>
            <a:ext cx="8520600" cy="981075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2023-2024 (No. of STUDENTS BENEFITTED)</a:t>
            </a:r>
            <a:br>
              <a:rPr lang="en-US" sz="2800" dirty="0">
                <a:solidFill>
                  <a:srgbClr val="002060"/>
                </a:solidFill>
              </a:rPr>
            </a:br>
            <a:endParaRPr lang="en-US" sz="28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311150" y="559547"/>
          <a:ext cx="8521700" cy="3960210"/>
        </p:xfrm>
        <a:graphic>
          <a:graphicData uri="http://schemas.openxmlformats.org/drawingml/2006/table">
            <a:tbl>
              <a:tblPr firstRow="1" bandRow="1">
                <a:tableStyleId>{CBCAB5CB-F2BF-42F4-AB10-25D7BBCC4597}</a:tableStyleId>
              </a:tblPr>
              <a:tblGrid>
                <a:gridCol w="79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9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2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2428">
                <a:tc>
                  <a:txBody>
                    <a:bodyPr/>
                    <a:lstStyle/>
                    <a:p>
                      <a:pPr algn="ctr"/>
                      <a:endParaRPr lang="en-US" sz="1400" b="0" i="0" u="none" strike="noStrike" kern="1200" cap="none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algn="ctr"/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Group – IV Coaching at Hanamkonda </a:t>
                      </a:r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0" i="0" u="none" strike="noStrike" kern="1200" cap="none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67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3719">
                <a:tc>
                  <a:txBody>
                    <a:bodyPr/>
                    <a:lstStyle/>
                    <a:p>
                      <a:pPr algn="ctr"/>
                      <a:endParaRPr lang="en-US" sz="1400" b="0" i="0" u="none" strike="noStrike" kern="1200" cap="none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algn="ctr"/>
                      <a:endParaRPr lang="en-US" sz="1400" b="0" i="0" u="none" strike="noStrike" kern="1200" cap="none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algn="ctr"/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TGT/ PGT, JL/DSC/S.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A under supervision of DMWOs concerned in Hyderabad and </a:t>
                      </a:r>
                      <a:r>
                        <a:rPr lang="en-US" sz="1400" kern="120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Karimnagar</a:t>
                      </a:r>
                      <a:r>
                        <a:rPr lang="en-US" sz="1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0" i="0" u="none" strike="noStrike" kern="1200" cap="none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73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6908">
                <a:tc>
                  <a:txBody>
                    <a:bodyPr/>
                    <a:lstStyle/>
                    <a:p>
                      <a:pPr algn="ctr"/>
                      <a:endParaRPr lang="en-US" sz="1400" b="0" i="0" u="none" strike="noStrike" kern="1200" cap="none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algn="ctr"/>
                      <a:endParaRPr lang="en-US" sz="1400" b="0" i="0" u="none" strike="noStrike" kern="1200" cap="none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algn="ctr"/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Group – III Coaching under supervision of DMWOs concerned in Hyderabad and </a:t>
                      </a:r>
                      <a:r>
                        <a:rPr lang="en-US" sz="1400" kern="120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Karimnagar</a:t>
                      </a:r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endParaRPr lang="en-US" sz="1400" b="0" i="0" u="none" strike="noStrike" kern="1200" cap="none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64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104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4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Group – II Coaching at </a:t>
                      </a:r>
                      <a:r>
                        <a:rPr lang="en-US" sz="1400" kern="120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Karimnagar</a:t>
                      </a:r>
                      <a:r>
                        <a:rPr lang="en-US" sz="1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71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9978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UPSC CSE</a:t>
                      </a:r>
                      <a:r>
                        <a:rPr lang="en-US" sz="1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-2024.</a:t>
                      </a:r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50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9978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6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NEET &amp; EAMCET Coaching. </a:t>
                      </a:r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R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409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5042">
                <a:tc gridSpan="2"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Sub Total</a:t>
                      </a:r>
                    </a:p>
                  </a:txBody>
                  <a:tcPr marT="34290" marB="34290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kern="1200" cap="none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734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0"/>
            <a:ext cx="8520600" cy="981075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2024-2025 (No. of STUDENTS BENEFITTED)</a:t>
            </a:r>
            <a:br>
              <a:rPr lang="en-US" sz="2800" dirty="0">
                <a:solidFill>
                  <a:srgbClr val="002060"/>
                </a:solidFill>
              </a:rPr>
            </a:br>
            <a:endParaRPr lang="en-US" sz="28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311150" y="602944"/>
          <a:ext cx="8521700" cy="3821563"/>
        </p:xfrm>
        <a:graphic>
          <a:graphicData uri="http://schemas.openxmlformats.org/drawingml/2006/table">
            <a:tbl>
              <a:tblPr firstRow="1" bandRow="1">
                <a:tableStyleId>{CBCAB5CB-F2BF-42F4-AB10-25D7BBCC4597}</a:tableStyleId>
              </a:tblPr>
              <a:tblGrid>
                <a:gridCol w="79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9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2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788">
                <a:tc>
                  <a:txBody>
                    <a:bodyPr/>
                    <a:lstStyle/>
                    <a:p>
                      <a:pPr algn="ctr"/>
                      <a:endParaRPr lang="en-US" sz="1400" b="0" i="0" u="none" strike="noStrike" kern="1200" cap="none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algn="ctr"/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Group – I</a:t>
                      </a:r>
                      <a:r>
                        <a:rPr lang="en-US" sz="1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(Prelims) Coaching at Hyderabad, </a:t>
                      </a:r>
                      <a:r>
                        <a:rPr lang="en-US" sz="140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Khammam</a:t>
                      </a:r>
                      <a:r>
                        <a:rPr lang="en-US" sz="1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40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Karimnagar</a:t>
                      </a:r>
                      <a:r>
                        <a:rPr lang="en-US" sz="1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40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Nizamabad</a:t>
                      </a:r>
                      <a:r>
                        <a:rPr lang="en-US" sz="1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&amp; </a:t>
                      </a:r>
                      <a:r>
                        <a:rPr lang="en-US" sz="140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Adilabad</a:t>
                      </a:r>
                      <a:r>
                        <a:rPr lang="en-US" sz="1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400" b="0" i="0" u="none" strike="noStrike" kern="1200" cap="none" baseline="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algn="ctr"/>
                      <a:r>
                        <a:rPr lang="en-US" sz="1400" b="0" i="0" u="none" strike="noStrike" kern="1200" cap="none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301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1943">
                <a:tc>
                  <a:txBody>
                    <a:bodyPr/>
                    <a:lstStyle/>
                    <a:p>
                      <a:pPr algn="ctr"/>
                      <a:endParaRPr lang="en-US" sz="1400" b="0" i="0" u="none" strike="noStrike" kern="1200" cap="none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algn="ctr"/>
                      <a:endParaRPr lang="en-US" sz="1400" b="0" i="0" u="none" strike="noStrike" kern="1200" cap="none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algn="ctr"/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UPSC CSE</a:t>
                      </a:r>
                      <a:r>
                        <a:rPr lang="en-US" sz="1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– 2025 (In –House Coaching)</a:t>
                      </a:r>
                      <a:r>
                        <a:rPr lang="en-US" sz="1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kern="1200" cap="none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100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2954">
                <a:tc>
                  <a:txBody>
                    <a:bodyPr/>
                    <a:lstStyle/>
                    <a:p>
                      <a:pPr algn="ctr"/>
                      <a:endParaRPr lang="en-US" sz="1400" b="0" i="0" u="none" strike="noStrike" kern="1200" cap="none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algn="ctr"/>
                      <a:endParaRPr lang="en-US" sz="1400" b="0" i="0" u="none" strike="noStrike" kern="1200" cap="none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algn="ctr"/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Combined Group – II &amp; III Examination Coaching at </a:t>
                      </a:r>
                      <a:r>
                        <a:rPr lang="en-US" sz="1400" kern="120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Karimnagar</a:t>
                      </a:r>
                      <a:r>
                        <a:rPr lang="en-US" sz="1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&amp; </a:t>
                      </a:r>
                      <a:r>
                        <a:rPr lang="en-US" sz="1400" kern="120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Nizamabad</a:t>
                      </a:r>
                      <a:r>
                        <a:rPr lang="en-US" sz="1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kern="1200" cap="none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93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4109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4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Group-</a:t>
                      </a:r>
                      <a:r>
                        <a:rPr lang="en-US" sz="1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I (Mains) Test Series</a:t>
                      </a:r>
                      <a:r>
                        <a:rPr lang="en-US" sz="1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kern="1200" cap="none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47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79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Group</a:t>
                      </a:r>
                      <a:r>
                        <a:rPr lang="en-US" sz="1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– II Mock Test</a:t>
                      </a:r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kern="1200" cap="none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108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791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6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IELTS,</a:t>
                      </a:r>
                      <a:r>
                        <a:rPr lang="en-US" sz="1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GRE &amp; TOEFL</a:t>
                      </a:r>
                      <a:r>
                        <a:rPr lang="en-US" sz="1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kern="1200" cap="none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245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l"/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2481">
                <a:tc gridSpan="2"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Sub Total</a:t>
                      </a:r>
                    </a:p>
                  </a:txBody>
                  <a:tcPr marT="34290" marB="34290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kern="1200" cap="none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894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0"/>
            <a:ext cx="8520600" cy="981075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2025-2026 (No. of STUDENTS BENEFITTED)</a:t>
            </a:r>
            <a:br>
              <a:rPr lang="en-US" sz="2800" dirty="0">
                <a:solidFill>
                  <a:srgbClr val="002060"/>
                </a:solidFill>
              </a:rPr>
            </a:br>
            <a:endParaRPr lang="en-US" sz="28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311150" y="952500"/>
          <a:ext cx="8521700" cy="3492035"/>
        </p:xfrm>
        <a:graphic>
          <a:graphicData uri="http://schemas.openxmlformats.org/drawingml/2006/table">
            <a:tbl>
              <a:tblPr firstRow="1" bandRow="1">
                <a:tableStyleId>{CBCAB5CB-F2BF-42F4-AB10-25D7BBCC4597}</a:tableStyleId>
              </a:tblPr>
              <a:tblGrid>
                <a:gridCol w="79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9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6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2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3425">
                <a:tc>
                  <a:txBody>
                    <a:bodyPr/>
                    <a:lstStyle/>
                    <a:p>
                      <a:pPr algn="ctr"/>
                      <a:endParaRPr lang="en-US" sz="1400" b="0" i="0" u="none" strike="noStrike" kern="1200" cap="none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algn="ctr"/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GRE Coaching </a:t>
                      </a:r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u="none" strike="noStrike" kern="1200" cap="none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48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7104">
                <a:tc>
                  <a:txBody>
                    <a:bodyPr/>
                    <a:lstStyle/>
                    <a:p>
                      <a:pPr algn="ctr"/>
                      <a:endParaRPr lang="en-US" sz="1400" b="0" i="0" u="none" strike="noStrike" kern="1200" cap="none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algn="ctr"/>
                      <a:endParaRPr lang="en-US" sz="1400" b="0" i="0" u="none" strike="noStrike" kern="1200" cap="none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algn="ctr"/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(04)</a:t>
                      </a:r>
                      <a:r>
                        <a:rPr lang="en-US" sz="1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Months Basic Foundation Course at Hyderabad, </a:t>
                      </a:r>
                      <a:r>
                        <a:rPr lang="en-US" sz="140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Karimnagar</a:t>
                      </a:r>
                      <a:r>
                        <a:rPr lang="en-US" sz="1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40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Adilabad</a:t>
                      </a:r>
                      <a:r>
                        <a:rPr lang="en-US" sz="1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&amp; </a:t>
                      </a:r>
                      <a:r>
                        <a:rPr lang="en-US" sz="1400" kern="1200" baseline="0" dirty="0" err="1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Nizamabad</a:t>
                      </a:r>
                      <a:r>
                        <a:rPr lang="en-US" sz="1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u="none" strike="noStrike" kern="1200" cap="none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362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2440">
                <a:tc>
                  <a:txBody>
                    <a:bodyPr/>
                    <a:lstStyle/>
                    <a:p>
                      <a:pPr algn="ctr"/>
                      <a:endParaRPr lang="en-US" sz="1400" b="0" i="0" u="none" strike="noStrike" kern="1200" cap="none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algn="ctr"/>
                      <a:endParaRPr lang="en-US" sz="1400" b="0" i="0" u="none" strike="noStrike" kern="1200" cap="none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algn="ctr"/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UPSC Civil Services Examination  -2026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( In-House</a:t>
                      </a:r>
                      <a:r>
                        <a:rPr lang="en-US" sz="1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Coaching)</a:t>
                      </a:r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u="none" strike="noStrike" kern="1200" cap="none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i="0" u="none" strike="noStrike" kern="1200" cap="none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100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066">
                <a:tc gridSpan="2"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Sub Total</a:t>
                      </a:r>
                    </a:p>
                  </a:txBody>
                  <a:tcPr marT="34290" marB="34290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kern="1200" cap="none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510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0"/>
            <a:ext cx="8520600" cy="981075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solidFill>
                  <a:srgbClr val="002060"/>
                </a:solidFill>
              </a:rPr>
              <a:t>2026-2027 (No. of STUDENTS BENEFITTED)</a:t>
            </a:r>
            <a:br>
              <a:rPr lang="en-US" sz="2800" dirty="0">
                <a:solidFill>
                  <a:srgbClr val="002060"/>
                </a:solidFill>
              </a:rPr>
            </a:br>
            <a:endParaRPr lang="en-US" sz="28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311149" y="602944"/>
          <a:ext cx="8689975" cy="4081036"/>
        </p:xfrm>
        <a:graphic>
          <a:graphicData uri="http://schemas.openxmlformats.org/drawingml/2006/table">
            <a:tbl>
              <a:tblPr firstRow="1" bandRow="1">
                <a:tableStyleId>{CBCAB5CB-F2BF-42F4-AB10-25D7BBCC4597}</a:tableStyleId>
              </a:tblPr>
              <a:tblGrid>
                <a:gridCol w="809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4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9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64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8690">
                <a:tc>
                  <a:txBody>
                    <a:bodyPr/>
                    <a:lstStyle/>
                    <a:p>
                      <a:pPr algn="ctr"/>
                      <a:endParaRPr lang="en-US" sz="1400" b="0" i="0" u="none" strike="noStrike" kern="1200" cap="none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algn="ctr"/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IELTS Coaching </a:t>
                      </a:r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kern="1200" cap="none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153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002060"/>
                          </a:solidFill>
                        </a:rPr>
                        <a:t>Completed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394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AEE Coaching</a:t>
                      </a:r>
                      <a:r>
                        <a:rPr lang="en-US" sz="1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at Hyderabad.</a:t>
                      </a:r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kern="1200" cap="none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16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002060"/>
                          </a:solidFill>
                        </a:rPr>
                        <a:t>Completed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328">
                <a:tc>
                  <a:txBody>
                    <a:bodyPr/>
                    <a:lstStyle/>
                    <a:p>
                      <a:pPr algn="ctr"/>
                      <a:endParaRPr lang="en-US" sz="1400" b="0" i="0" u="none" strike="noStrike" kern="1200" cap="none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pPr algn="ctr"/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3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kern="1200" dirty="0">
                        <a:solidFill>
                          <a:srgbClr val="00206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(04)</a:t>
                      </a:r>
                      <a:r>
                        <a:rPr lang="en-US" sz="1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Months Basic Foundation Course at Hyderabad. </a:t>
                      </a:r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kern="1200" cap="none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20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002060"/>
                          </a:solidFill>
                        </a:rPr>
                        <a:t>Under</a:t>
                      </a:r>
                      <a:r>
                        <a:rPr lang="en-US" sz="1200" baseline="0" dirty="0">
                          <a:solidFill>
                            <a:srgbClr val="002060"/>
                          </a:solidFill>
                        </a:rPr>
                        <a:t> Process</a:t>
                      </a:r>
                      <a:endParaRPr lang="en-US" sz="12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8690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4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UPSC</a:t>
                      </a:r>
                      <a:r>
                        <a:rPr lang="en-US" sz="1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CSE – 2027 ( In-House Coaching) at Hyderabad</a:t>
                      </a:r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kern="1200" cap="none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100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002060"/>
                          </a:solidFill>
                        </a:rPr>
                        <a:t>Under Process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2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5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Police</a:t>
                      </a:r>
                      <a:r>
                        <a:rPr lang="en-US" sz="1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Constable at Hyderabad</a:t>
                      </a:r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kern="1200" cap="none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260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002060"/>
                          </a:solidFill>
                        </a:rPr>
                        <a:t>Under</a:t>
                      </a:r>
                      <a:r>
                        <a:rPr lang="en-US" sz="1200" baseline="0" dirty="0">
                          <a:solidFill>
                            <a:srgbClr val="002060"/>
                          </a:solidFill>
                        </a:rPr>
                        <a:t> Process</a:t>
                      </a:r>
                      <a:endParaRPr lang="en-US" sz="12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122"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kern="1200" cap="none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6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Sub</a:t>
                      </a:r>
                      <a:r>
                        <a:rPr lang="en-US" sz="1400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 Inspector of Police at Hyderabad</a:t>
                      </a:r>
                      <a:endParaRPr lang="en-US" sz="1100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u="none" strike="noStrike" kern="1200" cap="none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105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rgbClr val="002060"/>
                          </a:solidFill>
                        </a:rPr>
                        <a:t>Under Process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122">
                <a:tc gridSpan="2"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Sub Total</a:t>
                      </a:r>
                    </a:p>
                  </a:txBody>
                  <a:tcPr marT="34290" marB="34290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kern="1200" cap="none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654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endParaRPr lang="en-US" sz="1100" b="1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9774">
                <a:tc gridSpan="2"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Grand</a:t>
                      </a:r>
                      <a:r>
                        <a:rPr lang="en-US" sz="1400" b="1" baseline="0" dirty="0">
                          <a:solidFill>
                            <a:srgbClr val="002060"/>
                          </a:solidFill>
                        </a:rPr>
                        <a:t> Total </a:t>
                      </a:r>
                      <a:endParaRPr lang="en-US" sz="1400" b="1" dirty="0">
                        <a:solidFill>
                          <a:srgbClr val="002060"/>
                        </a:solidFill>
                      </a:endParaRPr>
                    </a:p>
                  </a:txBody>
                  <a:tcPr marT="34290" marB="34290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kern="1200" cap="none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5135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2060"/>
                          </a:solidFill>
                        </a:rPr>
                        <a:t>(Beneficiaries, 2021–2026)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73268">
                <a:tc gridSpan="2">
                  <a:txBody>
                    <a:bodyPr/>
                    <a:lstStyle/>
                    <a:p>
                      <a:pPr algn="r"/>
                      <a:r>
                        <a:rPr lang="en-US" sz="1400" b="1" dirty="0">
                          <a:solidFill>
                            <a:srgbClr val="002060"/>
                          </a:solidFill>
                        </a:rPr>
                        <a:t>Grand Total</a:t>
                      </a:r>
                    </a:p>
                  </a:txBody>
                  <a:tcPr marT="34290" marB="3429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kern="1200" cap="none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11,967</a:t>
                      </a:r>
                    </a:p>
                  </a:txBody>
                  <a:tcPr marT="34290" marB="34290"/>
                </a:tc>
                <a:tc>
                  <a:txBody>
                    <a:bodyPr/>
                    <a:lstStyle/>
                    <a:p>
                      <a:r>
                        <a:rPr lang="en-US" sz="1200" b="1" dirty="0">
                          <a:solidFill>
                            <a:srgbClr val="002060"/>
                          </a:solidFill>
                        </a:rPr>
                        <a:t>Total Beneficiaries Trained Since the Inception of the Study Circle Till Date</a:t>
                      </a:r>
                    </a:p>
                  </a:txBody>
                  <a:tcPr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68168"/>
            <a:ext cx="8520600" cy="746234"/>
          </a:xfrm>
        </p:spPr>
        <p:txBody>
          <a:bodyPr>
            <a:normAutofit fontScale="90000"/>
          </a:bodyPr>
          <a:lstStyle/>
          <a:p>
            <a:r>
              <a:rPr lang="en-GB" dirty="0">
                <a:solidFill>
                  <a:srgbClr val="073763"/>
                </a:solidFill>
                <a:latin typeface="Roboto Slab"/>
                <a:ea typeface="Roboto Slab"/>
                <a:cs typeface="Roboto Slab"/>
                <a:sym typeface="Roboto Slab"/>
              </a:rPr>
              <a:t>TELANGANA MINORITIES STUDY CIRCLE</a:t>
            </a:r>
            <a:br>
              <a:rPr lang="en-GB" dirty="0">
                <a:solidFill>
                  <a:srgbClr val="073763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742951"/>
            <a:ext cx="8832300" cy="4238625"/>
          </a:xfrm>
        </p:spPr>
        <p:txBody>
          <a:bodyPr>
            <a:normAutofit fontScale="55000" lnSpcReduction="20000"/>
          </a:bodyPr>
          <a:lstStyle/>
          <a:p>
            <a:pPr indent="-361909" algn="ctr">
              <a:lnSpc>
                <a:spcPct val="100000"/>
              </a:lnSpc>
              <a:buClr>
                <a:srgbClr val="073763"/>
              </a:buClr>
              <a:buSzPts val="2100"/>
              <a:buNone/>
            </a:pPr>
            <a:r>
              <a:rPr lang="en-US" sz="3000" b="1" u="sng" dirty="0">
                <a:solidFill>
                  <a:srgbClr val="073763"/>
                </a:solidFill>
              </a:rPr>
              <a:t>ACHIEVEMENTS </a:t>
            </a:r>
            <a:r>
              <a:rPr lang="en-US" sz="3000" u="sng" dirty="0">
                <a:solidFill>
                  <a:srgbClr val="073763"/>
                </a:solidFill>
              </a:rPr>
              <a:t>:</a:t>
            </a:r>
          </a:p>
          <a:p>
            <a:pPr indent="-361909" algn="ctr">
              <a:lnSpc>
                <a:spcPct val="100000"/>
              </a:lnSpc>
              <a:buClr>
                <a:srgbClr val="073763"/>
              </a:buClr>
              <a:buSzPts val="2100"/>
              <a:buNone/>
            </a:pPr>
            <a:endParaRPr lang="en-US" sz="1300" u="sng" dirty="0">
              <a:solidFill>
                <a:srgbClr val="073763"/>
              </a:solidFill>
            </a:endParaRPr>
          </a:p>
          <a:p>
            <a:pPr lvl="1" indent="-342861" algn="just">
              <a:spcBef>
                <a:spcPts val="1000"/>
              </a:spcBef>
              <a:buClr>
                <a:srgbClr val="073763"/>
              </a:buClr>
              <a:buSzPts val="1800"/>
            </a:pPr>
            <a:r>
              <a:rPr lang="en-US" sz="2200" b="1" dirty="0">
                <a:solidFill>
                  <a:srgbClr val="002060"/>
                </a:solidFill>
                <a:latin typeface="Roboto Slab"/>
              </a:rPr>
              <a:t>The total (08) Minorities Study Circles and Career Counseling Centre established under the supervision of the DMWO’S Concerned in the following Districts i.e., </a:t>
            </a:r>
            <a:r>
              <a:rPr lang="en-US" sz="2200" b="1" dirty="0" err="1">
                <a:solidFill>
                  <a:srgbClr val="002060"/>
                </a:solidFill>
                <a:latin typeface="Roboto Slab"/>
              </a:rPr>
              <a:t>Mahabubnagar</a:t>
            </a:r>
            <a:r>
              <a:rPr lang="en-US" sz="2200" b="1" dirty="0">
                <a:solidFill>
                  <a:srgbClr val="002060"/>
                </a:solidFill>
                <a:latin typeface="Roboto Slab"/>
              </a:rPr>
              <a:t>, </a:t>
            </a:r>
            <a:r>
              <a:rPr lang="en-US" sz="2200" b="1" dirty="0" err="1">
                <a:solidFill>
                  <a:srgbClr val="002060"/>
                </a:solidFill>
                <a:latin typeface="Roboto Slab"/>
              </a:rPr>
              <a:t>Hanumakonda</a:t>
            </a:r>
            <a:r>
              <a:rPr lang="en-US" sz="2200" b="1" dirty="0">
                <a:solidFill>
                  <a:srgbClr val="002060"/>
                </a:solidFill>
                <a:latin typeface="Roboto Slab"/>
              </a:rPr>
              <a:t>, </a:t>
            </a:r>
            <a:r>
              <a:rPr lang="en-US" sz="2200" b="1" dirty="0" err="1">
                <a:solidFill>
                  <a:srgbClr val="002060"/>
                </a:solidFill>
                <a:latin typeface="Roboto Slab"/>
              </a:rPr>
              <a:t>Khammam</a:t>
            </a:r>
            <a:r>
              <a:rPr lang="en-US" sz="2200" b="1" dirty="0">
                <a:solidFill>
                  <a:srgbClr val="002060"/>
                </a:solidFill>
                <a:latin typeface="Roboto Slab"/>
              </a:rPr>
              <a:t>, </a:t>
            </a:r>
            <a:r>
              <a:rPr lang="en-US" sz="2200" b="1" dirty="0" err="1">
                <a:solidFill>
                  <a:srgbClr val="002060"/>
                </a:solidFill>
                <a:latin typeface="Roboto Slab"/>
              </a:rPr>
              <a:t>Adilabad</a:t>
            </a:r>
            <a:r>
              <a:rPr lang="en-US" sz="2200" b="1" dirty="0">
                <a:solidFill>
                  <a:srgbClr val="002060"/>
                </a:solidFill>
                <a:latin typeface="Roboto Slab"/>
              </a:rPr>
              <a:t>, </a:t>
            </a:r>
            <a:r>
              <a:rPr lang="en-US" sz="2200" b="1" dirty="0" err="1">
                <a:solidFill>
                  <a:srgbClr val="002060"/>
                </a:solidFill>
                <a:latin typeface="Roboto Slab"/>
              </a:rPr>
              <a:t>Nizamabad</a:t>
            </a:r>
            <a:r>
              <a:rPr lang="en-US" sz="2200" b="1" dirty="0">
                <a:solidFill>
                  <a:srgbClr val="002060"/>
                </a:solidFill>
                <a:latin typeface="Roboto Slab"/>
              </a:rPr>
              <a:t>, </a:t>
            </a:r>
            <a:r>
              <a:rPr lang="en-US" sz="2200" b="1" dirty="0" err="1">
                <a:solidFill>
                  <a:srgbClr val="002060"/>
                </a:solidFill>
                <a:latin typeface="Roboto Slab"/>
              </a:rPr>
              <a:t>Karimnagar</a:t>
            </a:r>
            <a:r>
              <a:rPr lang="en-US" sz="2200" b="1" dirty="0">
                <a:solidFill>
                  <a:srgbClr val="002060"/>
                </a:solidFill>
                <a:latin typeface="Roboto Slab"/>
              </a:rPr>
              <a:t>, </a:t>
            </a:r>
            <a:r>
              <a:rPr lang="en-US" sz="2200" b="1" dirty="0" err="1">
                <a:solidFill>
                  <a:srgbClr val="002060"/>
                </a:solidFill>
                <a:latin typeface="Roboto Slab"/>
              </a:rPr>
              <a:t>Nalgonda</a:t>
            </a:r>
            <a:r>
              <a:rPr lang="en-US" sz="2200" b="1" dirty="0">
                <a:solidFill>
                  <a:srgbClr val="002060"/>
                </a:solidFill>
                <a:latin typeface="Roboto Slab"/>
              </a:rPr>
              <a:t> and </a:t>
            </a:r>
            <a:r>
              <a:rPr lang="en-US" sz="2200" b="1" dirty="0" err="1">
                <a:solidFill>
                  <a:srgbClr val="002060"/>
                </a:solidFill>
                <a:latin typeface="Roboto Slab"/>
              </a:rPr>
              <a:t>Sanga</a:t>
            </a:r>
            <a:r>
              <a:rPr lang="en-US" sz="2200" b="1" dirty="0">
                <a:solidFill>
                  <a:srgbClr val="002060"/>
                </a:solidFill>
                <a:latin typeface="Roboto Slab"/>
              </a:rPr>
              <a:t> Reddy.</a:t>
            </a:r>
          </a:p>
          <a:p>
            <a:pPr lvl="1" indent="-342861" algn="just">
              <a:spcBef>
                <a:spcPts val="1000"/>
              </a:spcBef>
              <a:buClr>
                <a:srgbClr val="073763"/>
              </a:buClr>
              <a:buSzPts val="1800"/>
            </a:pPr>
            <a:r>
              <a:rPr lang="en-US" sz="2200" b="1" dirty="0">
                <a:solidFill>
                  <a:srgbClr val="002060"/>
                </a:solidFill>
                <a:latin typeface="Roboto Slab"/>
              </a:rPr>
              <a:t>The total number of 11,967 candidates have been trained in various courses till now since the inception of the Study Circle and (990) candidates are benefited</a:t>
            </a:r>
          </a:p>
          <a:p>
            <a:pPr lvl="1" indent="-342861" algn="just">
              <a:spcBef>
                <a:spcPts val="1000"/>
              </a:spcBef>
              <a:buClr>
                <a:srgbClr val="073763"/>
              </a:buClr>
              <a:buSzPts val="1800"/>
            </a:pPr>
            <a:r>
              <a:rPr lang="en-US" sz="2200" b="1" dirty="0">
                <a:solidFill>
                  <a:srgbClr val="002060"/>
                </a:solidFill>
                <a:latin typeface="Roboto Slab"/>
              </a:rPr>
              <a:t>Every year (100) Candidates will be selected for UPSC Civil Service Examination In-house coaching with digital board classes, Central </a:t>
            </a:r>
            <a:r>
              <a:rPr lang="en-US" sz="2200" b="1" dirty="0" err="1">
                <a:solidFill>
                  <a:srgbClr val="002060"/>
                </a:solidFill>
                <a:latin typeface="Roboto Slab"/>
              </a:rPr>
              <a:t>AC,Library</a:t>
            </a:r>
            <a:r>
              <a:rPr lang="en-US" sz="2200" b="1" dirty="0">
                <a:solidFill>
                  <a:srgbClr val="002060"/>
                </a:solidFill>
                <a:latin typeface="Roboto Slab"/>
              </a:rPr>
              <a:t> Facilities, Weekly test series, Full length test, Grand test etc.</a:t>
            </a:r>
          </a:p>
          <a:p>
            <a:pPr lvl="1" indent="-342861" algn="just">
              <a:spcBef>
                <a:spcPts val="1000"/>
              </a:spcBef>
              <a:buClr>
                <a:srgbClr val="073763"/>
              </a:buClr>
              <a:buSzPts val="1800"/>
            </a:pPr>
            <a:r>
              <a:rPr lang="en-US" sz="2200" b="1" dirty="0">
                <a:solidFill>
                  <a:srgbClr val="002060"/>
                </a:solidFill>
                <a:latin typeface="Roboto Slab"/>
              </a:rPr>
              <a:t>In TGPSC Group-I  Services exam (05) Candidates were selected .</a:t>
            </a:r>
          </a:p>
          <a:p>
            <a:pPr lvl="1" indent="-342861" algn="just">
              <a:spcBef>
                <a:spcPts val="1000"/>
              </a:spcBef>
              <a:buClr>
                <a:srgbClr val="073763"/>
              </a:buClr>
              <a:buSzPts val="1800"/>
            </a:pPr>
            <a:r>
              <a:rPr lang="en-US" sz="2200" b="1" dirty="0">
                <a:solidFill>
                  <a:srgbClr val="002060"/>
                </a:solidFill>
                <a:latin typeface="Roboto Slab"/>
              </a:rPr>
              <a:t>In TGPSC Group-II  Services exam (05) Candidates were selected.</a:t>
            </a:r>
          </a:p>
          <a:p>
            <a:pPr lvl="1" indent="-342861" algn="just">
              <a:spcBef>
                <a:spcPts val="1000"/>
              </a:spcBef>
              <a:buClr>
                <a:srgbClr val="073763"/>
              </a:buClr>
              <a:buSzPts val="1800"/>
            </a:pPr>
            <a:r>
              <a:rPr lang="en-US" sz="2200" b="1" dirty="0">
                <a:solidFill>
                  <a:srgbClr val="002060"/>
                </a:solidFill>
                <a:latin typeface="Roboto Slab"/>
              </a:rPr>
              <a:t>In TGPSC Group-III Services exam (02) Candidates were selected.</a:t>
            </a:r>
          </a:p>
          <a:p>
            <a:pPr lvl="1" indent="-342861" algn="just">
              <a:spcBef>
                <a:spcPts val="1000"/>
              </a:spcBef>
              <a:buClr>
                <a:srgbClr val="073763"/>
              </a:buClr>
              <a:buSzPts val="1800"/>
            </a:pPr>
            <a:r>
              <a:rPr lang="en-US" sz="2200" b="1" dirty="0">
                <a:solidFill>
                  <a:srgbClr val="002060"/>
                </a:solidFill>
                <a:latin typeface="Roboto Slab"/>
              </a:rPr>
              <a:t>In TGPSC Group-IV Services exam (25) Candidates were selected</a:t>
            </a:r>
          </a:p>
          <a:p>
            <a:pPr lvl="1" indent="-342861" algn="just">
              <a:spcBef>
                <a:spcPts val="1000"/>
              </a:spcBef>
              <a:buClr>
                <a:srgbClr val="073763"/>
              </a:buClr>
              <a:buSzPts val="1800"/>
            </a:pPr>
            <a:r>
              <a:rPr lang="en-US" sz="2200" b="1" dirty="0">
                <a:solidFill>
                  <a:srgbClr val="002060"/>
                </a:solidFill>
                <a:latin typeface="Roboto Slab"/>
              </a:rPr>
              <a:t>In TGLPRB Police Recruitment exam (07) Candidates were selected for Constable and (02) candidates are selected for Sub Inspector</a:t>
            </a:r>
          </a:p>
          <a:p>
            <a:pPr lvl="1" indent="-342861" algn="just">
              <a:spcBef>
                <a:spcPts val="1000"/>
              </a:spcBef>
              <a:buClr>
                <a:srgbClr val="073763"/>
              </a:buClr>
              <a:buSzPts val="1800"/>
            </a:pPr>
            <a:r>
              <a:rPr lang="en-US" sz="2200" b="1" dirty="0">
                <a:solidFill>
                  <a:srgbClr val="002060"/>
                </a:solidFill>
                <a:latin typeface="Roboto Slab"/>
              </a:rPr>
              <a:t>In TGT, PGT, JL, DSC &amp; S.A. Exam (21) candidates were selected.</a:t>
            </a:r>
          </a:p>
          <a:p>
            <a:pPr lvl="1" indent="-342861" algn="just">
              <a:lnSpc>
                <a:spcPct val="100000"/>
              </a:lnSpc>
              <a:spcBef>
                <a:spcPts val="1000"/>
              </a:spcBef>
              <a:buClr>
                <a:srgbClr val="073763"/>
              </a:buClr>
              <a:buSzPts val="1800"/>
              <a:buNone/>
            </a:pPr>
            <a:endParaRPr lang="en-US" sz="2100" dirty="0">
              <a:solidFill>
                <a:srgbClr val="073763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GB" smtClean="0"/>
              <a:pPr/>
              <a:t>12</a:t>
            </a:fld>
            <a:endParaRPr lang="en-GB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0"/>
            <a:ext cx="8229600" cy="857250"/>
          </a:xfrm>
        </p:spPr>
        <p:txBody>
          <a:bodyPr>
            <a:no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Verdana" pitchFamily="34" charset="0"/>
                <a:ea typeface="Verdana" pitchFamily="34" charset="0"/>
              </a:rPr>
              <a:t>TELANGANA MINORITIES STUDY CIRCLE &amp; CAREER COUNSELING CENTRE</a:t>
            </a:r>
            <a:endParaRPr lang="en-US" sz="2000" dirty="0">
              <a:solidFill>
                <a:srgbClr val="002060"/>
              </a:solidFill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8600" y="914400"/>
            <a:ext cx="8686800" cy="314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4"/>
          <p:cNvSpPr/>
          <p:nvPr/>
        </p:nvSpPr>
        <p:spPr>
          <a:xfrm>
            <a:off x="0" y="4114800"/>
            <a:ext cx="9144000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	</a:t>
            </a:r>
            <a:r>
              <a:rPr lang="en-US" sz="3000" b="1" dirty="0">
                <a:latin typeface="Verdana" pitchFamily="34" charset="0"/>
                <a:ea typeface="Verdana" pitchFamily="34" charset="0"/>
              </a:rPr>
              <a:t>2026-2027</a:t>
            </a:r>
            <a:r>
              <a:rPr lang="en-US" sz="2000" b="1" dirty="0">
                <a:latin typeface="Verdana" pitchFamily="34" charset="0"/>
                <a:ea typeface="Verdana" pitchFamily="34" charset="0"/>
              </a:rPr>
              <a:t> ON-GOING PROGRAMMES 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sz="2200" dirty="0">
                <a:latin typeface="Verdana" pitchFamily="34" charset="0"/>
                <a:ea typeface="Verdana" pitchFamily="34" charset="0"/>
              </a:rPr>
            </a:br>
            <a:br>
              <a:rPr lang="en-US" sz="2200" dirty="0">
                <a:latin typeface="Verdana" pitchFamily="34" charset="0"/>
                <a:ea typeface="Verdana" pitchFamily="34" charset="0"/>
              </a:rPr>
            </a:br>
            <a:endParaRPr lang="en-US" dirty="0"/>
          </a:p>
        </p:txBody>
      </p:sp>
      <p:pic>
        <p:nvPicPr>
          <p:cNvPr id="4" name="Content Placeholder 3" descr="C:\Users\User\Downloads\WhatsApp Image 2026-07-31 at 12.28.28 PM.jpeg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19100" y="1143000"/>
            <a:ext cx="3824396" cy="382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C:\Users\User\Downloads\WhatsApp Image 2026-07-31 at 12.32.22 PM.jpeg"/>
          <p:cNvPicPr/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57700" y="1162050"/>
            <a:ext cx="4124325" cy="3743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238125" y="-390524"/>
            <a:ext cx="8439150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br>
              <a:rPr lang="en-US" sz="2200" b="1" dirty="0">
                <a:solidFill>
                  <a:srgbClr val="EF6C00"/>
                </a:solidFill>
                <a:latin typeface="Verdana" pitchFamily="34" charset="0"/>
                <a:ea typeface="Verdana" pitchFamily="34" charset="0"/>
                <a:sym typeface="PT Sans Narrow"/>
              </a:rPr>
            </a:br>
            <a:br>
              <a:rPr lang="en-US" sz="2200" b="1" dirty="0">
                <a:solidFill>
                  <a:srgbClr val="EF6C00"/>
                </a:solidFill>
                <a:latin typeface="Verdana" pitchFamily="34" charset="0"/>
                <a:ea typeface="Verdana" pitchFamily="34" charset="0"/>
                <a:sym typeface="PT Sans Narrow"/>
              </a:rPr>
            </a:br>
            <a:r>
              <a:rPr lang="en-US" sz="2400" b="1" dirty="0">
                <a:solidFill>
                  <a:srgbClr val="002060"/>
                </a:solidFill>
                <a:latin typeface="Verdana" pitchFamily="34" charset="0"/>
                <a:ea typeface="Verdana" pitchFamily="34" charset="0"/>
                <a:sym typeface="PT Sans Narrow"/>
              </a:rPr>
              <a:t>The photograph with caption of major events and </a:t>
            </a:r>
            <a:r>
              <a:rPr lang="en-US" sz="2400" b="1" dirty="0" err="1">
                <a:solidFill>
                  <a:srgbClr val="002060"/>
                </a:solidFill>
                <a:latin typeface="Verdana" pitchFamily="34" charset="0"/>
                <a:ea typeface="Verdana" pitchFamily="34" charset="0"/>
                <a:sym typeface="PT Sans Narrow"/>
              </a:rPr>
              <a:t>programmes</a:t>
            </a:r>
            <a:r>
              <a:rPr lang="en-US" sz="2400" b="1" dirty="0">
                <a:solidFill>
                  <a:srgbClr val="002060"/>
                </a:solidFill>
                <a:latin typeface="Verdana" pitchFamily="34" charset="0"/>
                <a:ea typeface="Verdana" pitchFamily="34" charset="0"/>
                <a:sym typeface="PT Sans Narrow"/>
              </a:rPr>
              <a:t> </a:t>
            </a:r>
            <a:endParaRPr lang="en-US" sz="11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496300" cy="85725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700" b="1" u="sng" dirty="0">
                <a:solidFill>
                  <a:srgbClr val="002060"/>
                </a:solidFill>
              </a:rPr>
              <a:t>Renowned Faculty D.B. Kumar Sir invited to join TGMSC</a:t>
            </a:r>
            <a:r>
              <a:rPr lang="en-US" sz="2700" u="sng" dirty="0">
                <a:solidFill>
                  <a:srgbClr val="002060"/>
                </a:solidFill>
              </a:rPr>
              <a:t>.</a:t>
            </a:r>
            <a:r>
              <a:rPr lang="en-US" b="1" u="sng" dirty="0"/>
              <a:t> </a:t>
            </a:r>
          </a:p>
        </p:txBody>
      </p:sp>
      <p:pic>
        <p:nvPicPr>
          <p:cNvPr id="4" name="Content Placeholder 3" descr="C:\Users\User\Downloads\WhatsApp Image 2026-07-31 at 12.32.21 PM(2).jpeg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8601" y="723900"/>
            <a:ext cx="8686799" cy="430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219075"/>
            <a:ext cx="8520600" cy="1076325"/>
          </a:xfrm>
        </p:spPr>
        <p:txBody>
          <a:bodyPr>
            <a:noAutofit/>
          </a:bodyPr>
          <a:lstStyle/>
          <a:p>
            <a:pPr algn="ctr"/>
            <a:r>
              <a:rPr lang="en-US" sz="2000" b="1" u="sng" dirty="0">
                <a:solidFill>
                  <a:srgbClr val="002060"/>
                </a:solidFill>
              </a:rPr>
              <a:t>Renowned Faculty Krishna Reddy Sir </a:t>
            </a:r>
            <a:r>
              <a:rPr lang="en-US" sz="2000" u="sng" dirty="0">
                <a:solidFill>
                  <a:srgbClr val="002060"/>
                </a:solidFill>
              </a:rPr>
              <a:t>invited to join TGMSC</a:t>
            </a:r>
            <a:r>
              <a:rPr lang="en-US" sz="2800" u="sng" dirty="0">
                <a:solidFill>
                  <a:srgbClr val="002060"/>
                </a:solidFill>
              </a:rPr>
              <a:t>. </a:t>
            </a:r>
          </a:p>
        </p:txBody>
      </p:sp>
      <p:pic>
        <p:nvPicPr>
          <p:cNvPr id="327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3825" y="952501"/>
            <a:ext cx="8762999" cy="3981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161925"/>
            <a:ext cx="8520600" cy="72390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700" b="1" u="sng" dirty="0" err="1">
                <a:solidFill>
                  <a:srgbClr val="002060"/>
                </a:solidFill>
              </a:rPr>
              <a:t>Hon’ble</a:t>
            </a:r>
            <a:r>
              <a:rPr lang="en-US" sz="2700" b="1" u="sng" dirty="0">
                <a:solidFill>
                  <a:srgbClr val="002060"/>
                </a:solidFill>
              </a:rPr>
              <a:t> Secretary </a:t>
            </a:r>
            <a:r>
              <a:rPr lang="en-US" sz="2700" b="1" u="sng" dirty="0" err="1">
                <a:solidFill>
                  <a:srgbClr val="002060"/>
                </a:solidFill>
              </a:rPr>
              <a:t>Janab</a:t>
            </a:r>
            <a:r>
              <a:rPr lang="en-US" sz="2700" b="1" u="sng" dirty="0">
                <a:solidFill>
                  <a:srgbClr val="002060"/>
                </a:solidFill>
              </a:rPr>
              <a:t> </a:t>
            </a:r>
            <a:r>
              <a:rPr lang="en-US" sz="2700" b="1" u="sng" dirty="0" err="1">
                <a:solidFill>
                  <a:srgbClr val="002060"/>
                </a:solidFill>
              </a:rPr>
              <a:t>Shafiullah</a:t>
            </a:r>
            <a:r>
              <a:rPr lang="en-US" sz="2700" b="1" u="sng" dirty="0">
                <a:solidFill>
                  <a:srgbClr val="002060"/>
                </a:solidFill>
              </a:rPr>
              <a:t> Sir Visits to TGMSC</a:t>
            </a:r>
            <a:r>
              <a:rPr lang="en-US" sz="2700" u="sng" dirty="0">
                <a:solidFill>
                  <a:srgbClr val="002060"/>
                </a:solidFill>
              </a:rPr>
              <a:t>.</a:t>
            </a:r>
            <a:endParaRPr lang="en-US" b="1" u="sng" dirty="0"/>
          </a:p>
        </p:txBody>
      </p:sp>
      <p:pic>
        <p:nvPicPr>
          <p:cNvPr id="4" name="Content Placeholder 3" descr="C:\Users\User\Downloads\WhatsApp Image 2026-07-31 at 12.32.22 PM(2).jpeg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2400" y="1028700"/>
            <a:ext cx="41148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95800" y="1028700"/>
            <a:ext cx="4419600" cy="3829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0"/>
            <a:ext cx="8520600" cy="657226"/>
          </a:xfrm>
        </p:spPr>
        <p:txBody>
          <a:bodyPr>
            <a:noAutofit/>
          </a:bodyPr>
          <a:lstStyle/>
          <a:p>
            <a:pPr algn="ctr"/>
            <a:r>
              <a:rPr lang="en-US" b="1" u="sng" dirty="0">
                <a:solidFill>
                  <a:srgbClr val="002060"/>
                </a:solidFill>
              </a:rPr>
              <a:t>LIBRARY RENOVATED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857250"/>
            <a:ext cx="3810000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95800" y="857250"/>
            <a:ext cx="4495800" cy="405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50"/>
          </a:xfrm>
        </p:spPr>
        <p:txBody>
          <a:bodyPr>
            <a:normAutofit/>
          </a:bodyPr>
          <a:lstStyle/>
          <a:p>
            <a:pPr algn="ctr"/>
            <a:r>
              <a:rPr lang="en-US" sz="3200" b="1" u="sng" dirty="0">
                <a:solidFill>
                  <a:srgbClr val="002060"/>
                </a:solidFill>
              </a:rPr>
              <a:t>STUDENTS SPORTS ACTIVITY</a:t>
            </a:r>
          </a:p>
        </p:txBody>
      </p:sp>
      <p:pic>
        <p:nvPicPr>
          <p:cNvPr id="296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8600" y="742950"/>
            <a:ext cx="8686800" cy="422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3375" y="0"/>
            <a:ext cx="8505825" cy="1028700"/>
          </a:xfrm>
        </p:spPr>
        <p:txBody>
          <a:bodyPr>
            <a:noAutofit/>
          </a:bodyPr>
          <a:lstStyle/>
          <a:p>
            <a:pPr algn="ctr"/>
            <a:r>
              <a:rPr lang="en-US" sz="1800" b="1" u="sng" dirty="0">
                <a:solidFill>
                  <a:srgbClr val="002060"/>
                </a:solidFill>
                <a:latin typeface="Verdana" pitchFamily="34" charset="0"/>
                <a:ea typeface="Verdana" pitchFamily="34" charset="0"/>
              </a:rPr>
              <a:t>UPSC (CIVIL SERVICES) 2026-2027, BATCH STARTED</a:t>
            </a:r>
            <a:br>
              <a:rPr lang="en-US" sz="1800" b="1" u="sng" dirty="0">
                <a:solidFill>
                  <a:srgbClr val="002060"/>
                </a:solidFill>
                <a:latin typeface="Verdana" pitchFamily="34" charset="0"/>
                <a:ea typeface="Verdana" pitchFamily="34" charset="0"/>
              </a:rPr>
            </a:br>
            <a:r>
              <a:rPr lang="en-US" sz="1800" b="1" u="sng" dirty="0">
                <a:solidFill>
                  <a:srgbClr val="002060"/>
                </a:solidFill>
                <a:latin typeface="Verdana" pitchFamily="34" charset="0"/>
                <a:ea typeface="Verdana" pitchFamily="34" charset="0"/>
              </a:rPr>
              <a:t>MOTIVATION CLASS  BY SYED TARIQ ANWAR, Director, TGMSC. </a:t>
            </a:r>
          </a:p>
        </p:txBody>
      </p:sp>
      <p:pic>
        <p:nvPicPr>
          <p:cNvPr id="4" name="Content Placeholder 3" descr="C:\Users\User\Downloads\WhatsApp Image 2026-07-31 at 12.32.21 PM.jpeg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923925"/>
            <a:ext cx="8534400" cy="4048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50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u="sng" dirty="0">
                <a:solidFill>
                  <a:srgbClr val="002060"/>
                </a:solidFill>
              </a:rPr>
              <a:t>TGMSC Agreement with IDP for IELTS</a:t>
            </a:r>
          </a:p>
        </p:txBody>
      </p:sp>
      <p:pic>
        <p:nvPicPr>
          <p:cNvPr id="286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2400" y="685800"/>
            <a:ext cx="88392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90600"/>
          </a:xfrm>
        </p:spPr>
        <p:txBody>
          <a:bodyPr>
            <a:noAutofit/>
          </a:bodyPr>
          <a:lstStyle/>
          <a:p>
            <a:pPr algn="ctr"/>
            <a:r>
              <a:rPr lang="en-US" sz="2000" u="sng" dirty="0">
                <a:solidFill>
                  <a:srgbClr val="002060"/>
                </a:solidFill>
                <a:latin typeface="Verdana" pitchFamily="34" charset="0"/>
                <a:ea typeface="Verdana" pitchFamily="34" charset="0"/>
              </a:rPr>
              <a:t>POLICE RECRUITMENT BOARD PHYSICAL TRAINING SESSIONS at NTR Stadium by TGMSC</a:t>
            </a:r>
            <a:r>
              <a:rPr lang="en-US" sz="3200" u="sng" dirty="0">
                <a:solidFill>
                  <a:srgbClr val="002060"/>
                </a:solidFill>
                <a:latin typeface="Verdana" pitchFamily="34" charset="0"/>
                <a:ea typeface="Verdana" pitchFamily="34" charset="0"/>
              </a:rPr>
              <a:t>.</a:t>
            </a:r>
          </a:p>
        </p:txBody>
      </p:sp>
      <p:pic>
        <p:nvPicPr>
          <p:cNvPr id="4" name="Content Placeholder 4" descr="C:\Users\User\Downloads\WhatsApp Image 2026-07-31 at 4.15.31 PM.jpeg"/>
          <p:cNvPicPr>
            <a:picLocks noGrp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104900"/>
            <a:ext cx="8686800" cy="3867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4572000"/>
            <a:ext cx="8991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43600" algn="r"/>
              </a:tabLst>
            </a:pPr>
            <a:r>
              <a:rPr kumimoji="0" 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                                                                                                                            DIRECTOR</a:t>
            </a:r>
            <a:endParaRPr kumimoji="0" 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5943600" algn="r"/>
              </a:tabLst>
            </a:pPr>
            <a:r>
              <a:rPr kumimoji="0" lang="en-US" sz="1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	  TGMSC&amp;CCC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200025"/>
            <a:ext cx="8520600" cy="952400"/>
          </a:xfrm>
        </p:spPr>
        <p:txBody>
          <a:bodyPr>
            <a:noAutofit/>
          </a:bodyPr>
          <a:lstStyle/>
          <a:p>
            <a:pPr algn="ctr"/>
            <a:r>
              <a:rPr lang="en-US" sz="2400" b="1" u="sng" dirty="0">
                <a:solidFill>
                  <a:srgbClr val="002060"/>
                </a:solidFill>
              </a:rPr>
              <a:t>UPSC (CIVIL SERVICES) 2026-2027, CLASS BY </a:t>
            </a:r>
            <a:br>
              <a:rPr lang="en-US" sz="2400" b="1" u="sng" dirty="0">
                <a:solidFill>
                  <a:srgbClr val="002060"/>
                </a:solidFill>
              </a:rPr>
            </a:br>
            <a:r>
              <a:rPr lang="en-US" sz="2400" b="1" u="sng" dirty="0">
                <a:solidFill>
                  <a:srgbClr val="002060"/>
                </a:solidFill>
              </a:rPr>
              <a:t>DR. D.B. KUMAR Sir.</a:t>
            </a:r>
          </a:p>
        </p:txBody>
      </p:sp>
      <p:pic>
        <p:nvPicPr>
          <p:cNvPr id="4" name="Content Placeholder 3" descr="C:\Users\User\Downloads\WhatsApp Image 2026-07-31 at 12.32.21 PM(1).jpeg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46964" y="1200150"/>
            <a:ext cx="8368436" cy="371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C:\Users\User\Downloads\WhatsApp Image 2026-08-01 at 1.53.12 PM.jpeg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1047750"/>
            <a:ext cx="8686800" cy="4095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C:\Users\User\Downloads\WhatsApp Image 2026-07-31 at 12.28.29 PM.jpeg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571500"/>
            <a:ext cx="8915400" cy="445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700" y="228600"/>
            <a:ext cx="8622750" cy="923825"/>
          </a:xfrm>
        </p:spPr>
        <p:txBody>
          <a:bodyPr>
            <a:noAutofit/>
          </a:bodyPr>
          <a:lstStyle/>
          <a:p>
            <a:pPr algn="ctr"/>
            <a:r>
              <a:rPr lang="en-US" sz="3200" u="sng" dirty="0">
                <a:solidFill>
                  <a:srgbClr val="002060"/>
                </a:solidFill>
              </a:rPr>
              <a:t>TGMSC - CAMPUS OUTLOOK NIGHT VIEW</a:t>
            </a:r>
          </a:p>
        </p:txBody>
      </p:sp>
      <p:pic>
        <p:nvPicPr>
          <p:cNvPr id="307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8600" y="1152526"/>
            <a:ext cx="8686800" cy="38195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>
            <a:spLocks noGrp="1"/>
          </p:cNvSpPr>
          <p:nvPr>
            <p:ph type="title"/>
          </p:nvPr>
        </p:nvSpPr>
        <p:spPr>
          <a:xfrm>
            <a:off x="311700" y="1802550"/>
            <a:ext cx="8520600" cy="1538400"/>
          </a:xfrm>
          <a:prstGeom prst="rect">
            <a:avLst/>
          </a:prstGeom>
        </p:spPr>
        <p:txBody>
          <a:bodyPr spcFirstLastPara="1" wrap="square" lIns="91415" tIns="91415" rIns="91415" bIns="91415" anchor="ctr" anchorCtr="0">
            <a:normAutofit fontScale="90000"/>
          </a:bodyPr>
          <a:lstStyle/>
          <a:p>
            <a:r>
              <a:rPr lang="en-GB" dirty="0">
                <a:solidFill>
                  <a:srgbClr val="073763"/>
                </a:solidFill>
              </a:rPr>
              <a:t>Thank You</a:t>
            </a:r>
            <a:endParaRPr dirty="0">
              <a:solidFill>
                <a:srgbClr val="073763"/>
              </a:solidFill>
            </a:endParaRPr>
          </a:p>
        </p:txBody>
      </p:sp>
      <p:sp>
        <p:nvSpPr>
          <p:cNvPr id="306" name="Google Shape;306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15" tIns="91415" rIns="91415" bIns="91415" anchor="ctr" anchorCtr="0">
            <a:normAutofit/>
          </a:bodyPr>
          <a:lstStyle/>
          <a:p>
            <a:fld id="{00000000-1234-1234-1234-123412341234}" type="slidenum">
              <a:rPr lang="en-GB"/>
              <a:pPr/>
              <a:t>27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682</TotalTime>
  <Words>1131</Words>
  <Application>Microsoft Office PowerPoint</Application>
  <PresentationFormat>On-screen Show (16:9)</PresentationFormat>
  <Paragraphs>249</Paragraphs>
  <Slides>27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6" baseType="lpstr">
      <vt:lpstr>Arial</vt:lpstr>
      <vt:lpstr>Calibri</vt:lpstr>
      <vt:lpstr>Open Sans</vt:lpstr>
      <vt:lpstr>PT Sans Narrow</vt:lpstr>
      <vt:lpstr>Roboto Slab</vt:lpstr>
      <vt:lpstr>Times New Roman</vt:lpstr>
      <vt:lpstr>Verdana</vt:lpstr>
      <vt:lpstr>Wingdings</vt:lpstr>
      <vt:lpstr>Tropic</vt:lpstr>
      <vt:lpstr>PowerPoint Presentation</vt:lpstr>
      <vt:lpstr> MINORITIES WELFARE DEPARTMENT TELANGANA MINORITIES STUDY CIRCLE &amp; CAREER COUNSELING CENTRE</vt:lpstr>
      <vt:lpstr> MINORITIES WELFARE DEPARTMENT  TELANGANA MINORITIES STUDY CIRCLE &amp; CAREER COUNSELING CENTRE</vt:lpstr>
      <vt:lpstr>TELANGANA MINORITIES STUDY CIRCLE &amp; CAREER COUNSELING CENTRE</vt:lpstr>
      <vt:lpstr>TELANGANA MINORITIES STUDY CIRCLE &amp; CAREER COUNSELING CENTRE </vt:lpstr>
      <vt:lpstr>2021-2022 (No. of STUDENTS BENEFITTED) </vt:lpstr>
      <vt:lpstr>2022-2023 (No. of STUDENTS BENEFITTED) </vt:lpstr>
      <vt:lpstr>2023-2024 (No. of STUDENTS BENEFITTED) </vt:lpstr>
      <vt:lpstr>2024-2025 (No. of STUDENTS BENEFITTED) </vt:lpstr>
      <vt:lpstr>2025-2026 (No. of STUDENTS BENEFITTED) </vt:lpstr>
      <vt:lpstr>2026-2027 (No. of STUDENTS BENEFITTED) </vt:lpstr>
      <vt:lpstr>TELANGANA MINORITIES STUDY CIRCLE </vt:lpstr>
      <vt:lpstr>TELANGANA MINORITIES STUDY CIRCLE &amp; CAREER COUNSELING CENTRE</vt:lpstr>
      <vt:lpstr>  </vt:lpstr>
      <vt:lpstr>Renowned Faculty D.B. Kumar Sir invited to join TGMSC. </vt:lpstr>
      <vt:lpstr>Renowned Faculty Krishna Reddy Sir invited to join TGMSC. </vt:lpstr>
      <vt:lpstr>Hon’ble Secretary Janab Shafiullah Sir Visits to TGMSC.</vt:lpstr>
      <vt:lpstr>LIBRARY RENOVATED</vt:lpstr>
      <vt:lpstr>STUDENTS SPORTS ACTIVITY</vt:lpstr>
      <vt:lpstr>UPSC (CIVIL SERVICES) 2026-2027, BATCH STARTED MOTIVATION CLASS  BY SYED TARIQ ANWAR, Director, TGMSC. </vt:lpstr>
      <vt:lpstr>TGMSC Agreement with IDP for IELTS</vt:lpstr>
      <vt:lpstr>POLICE RECRUITMENT BOARD PHYSICAL TRAINING SESSIONS at NTR Stadium by TGMSC.</vt:lpstr>
      <vt:lpstr>UPSC (CIVIL SERVICES) 2026-2027, CLASS BY  DR. D.B. KUMAR Sir.</vt:lpstr>
      <vt:lpstr>PowerPoint Presentation</vt:lpstr>
      <vt:lpstr>PowerPoint Presentation</vt:lpstr>
      <vt:lpstr>TGMSC - CAMPUS OUTLOOK NIGHT VIEW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Office</dc:creator>
  <cp:lastModifiedBy>zaheeb aseer</cp:lastModifiedBy>
  <cp:revision>78</cp:revision>
  <dcterms:modified xsi:type="dcterms:W3CDTF">2026-09-08T10:18:16Z</dcterms:modified>
</cp:coreProperties>
</file>